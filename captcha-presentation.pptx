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9" r:id="rId3"/>
    <p:sldId id="260" r:id="rId4"/>
    <p:sldId id="4171" r:id="rId5"/>
    <p:sldId id="263" r:id="rId6"/>
    <p:sldId id="262" r:id="rId7"/>
    <p:sldId id="4172" r:id="rId8"/>
    <p:sldId id="261" r:id="rId9"/>
  </p:sldIdLst>
  <p:sldSz cx="24387175" cy="13716000"/>
  <p:notesSz cx="13716000" cy="24387175"/>
  <p:embeddedFontLst>
    <p:embeddedFont>
      <p:font typeface="Roboto Mono Medium" panose="00000009000000000000" pitchFamily="49" charset="0"/>
      <p:regular r:id="rId11"/>
    </p:embeddedFont>
    <p:embeddedFont>
      <p:font typeface="Roboto Mono Regular" panose="020B0604020202020204" charset="0"/>
      <p:regular r:id="rId1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85B"/>
    <a:srgbClr val="FE125B"/>
    <a:srgbClr val="FEAD1F"/>
    <a:srgbClr val="3400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94" autoAdjust="0"/>
    <p:restoredTop sz="95033" autoAdjust="0"/>
  </p:normalViewPr>
  <p:slideViewPr>
    <p:cSldViewPr snapToGrid="0" snapToObjects="1">
      <p:cViewPr varScale="1">
        <p:scale>
          <a:sx n="39" d="100"/>
          <a:sy n="39" d="100"/>
        </p:scale>
        <p:origin x="80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4690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2281257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308297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2" name="Image 0"/>
          <p:cNvPicPr>
            <a:picLocks noChangeAspect="1"/>
          </p:cNvPicPr>
          <p:nvPr userDrawn="1"/>
        </p:nvPicPr>
        <p:blipFill>
          <a:blip r:embed="rId2"/>
          <a:stretch>
            <a:fillRect/>
          </a:stretch>
        </p:blipFill>
        <p:spPr>
          <a:xfrm>
            <a:off x="0" y="0"/>
            <a:ext cx="24387048" cy="13716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021"/>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044956" y="889000"/>
            <a:ext cx="20309838" cy="11950700"/>
          </a:xfrm>
          <a:prstGeom prst="rect">
            <a:avLst/>
          </a:prstGeom>
        </p:spPr>
      </p:pic>
      <p:pic>
        <p:nvPicPr>
          <p:cNvPr id="4" name="Image 2" descr="preencoded.png"/>
          <p:cNvPicPr>
            <a:picLocks noChangeAspect="1"/>
          </p:cNvPicPr>
          <p:nvPr/>
        </p:nvPicPr>
        <p:blipFill>
          <a:blip r:embed="rId4"/>
          <a:stretch>
            <a:fillRect/>
          </a:stretch>
        </p:blipFill>
        <p:spPr>
          <a:xfrm>
            <a:off x="5007207" y="1600200"/>
            <a:ext cx="725932" cy="725839"/>
          </a:xfrm>
          <a:prstGeom prst="rect">
            <a:avLst/>
          </a:prstGeom>
        </p:spPr>
      </p:pic>
      <p:pic>
        <p:nvPicPr>
          <p:cNvPr id="5" name="Image 3" descr="preencoded.png"/>
          <p:cNvPicPr>
            <a:picLocks noChangeAspect="1"/>
          </p:cNvPicPr>
          <p:nvPr/>
        </p:nvPicPr>
        <p:blipFill>
          <a:blip r:embed="rId5"/>
          <a:stretch>
            <a:fillRect/>
          </a:stretch>
        </p:blipFill>
        <p:spPr>
          <a:xfrm>
            <a:off x="3793508" y="1600200"/>
            <a:ext cx="725932" cy="725839"/>
          </a:xfrm>
          <a:prstGeom prst="rect">
            <a:avLst/>
          </a:prstGeom>
        </p:spPr>
      </p:pic>
      <p:pic>
        <p:nvPicPr>
          <p:cNvPr id="6" name="Image 4" descr="preencoded.png"/>
          <p:cNvPicPr>
            <a:picLocks noChangeAspect="1"/>
          </p:cNvPicPr>
          <p:nvPr/>
        </p:nvPicPr>
        <p:blipFill>
          <a:blip r:embed="rId6"/>
          <a:stretch>
            <a:fillRect/>
          </a:stretch>
        </p:blipFill>
        <p:spPr>
          <a:xfrm>
            <a:off x="2616527" y="1600200"/>
            <a:ext cx="725935" cy="725839"/>
          </a:xfrm>
          <a:prstGeom prst="rect">
            <a:avLst/>
          </a:prstGeom>
        </p:spPr>
      </p:pic>
      <p:sp>
        <p:nvSpPr>
          <p:cNvPr id="9" name="Text 1"/>
          <p:cNvSpPr/>
          <p:nvPr/>
        </p:nvSpPr>
        <p:spPr>
          <a:xfrm>
            <a:off x="3035679" y="2743200"/>
            <a:ext cx="16105761" cy="6070600"/>
          </a:xfrm>
          <a:prstGeom prst="rect">
            <a:avLst/>
          </a:prstGeom>
          <a:noFill/>
          <a:ln/>
        </p:spPr>
        <p:txBody>
          <a:bodyPr wrap="square" lIns="0" tIns="0" rIns="0" bIns="0" rtlCol="0" anchor="t"/>
          <a:lstStyle/>
          <a:p>
            <a:pPr algn="ctr"/>
            <a:r>
              <a:rPr lang="en-US" sz="13900" dirty="0">
                <a:solidFill>
                  <a:srgbClr val="FFFFFF">
                    <a:alpha val="100000"/>
                  </a:srgbClr>
                </a:solidFill>
                <a:latin typeface="Roboto Mono Medium" pitchFamily="34" charset="0"/>
                <a:ea typeface="Roboto Mono Medium" pitchFamily="34" charset="-122"/>
              </a:rPr>
              <a:t>Noisy Captcha Recognition</a:t>
            </a:r>
            <a:endParaRPr lang="en-US" sz="13900" dirty="0"/>
          </a:p>
        </p:txBody>
      </p:sp>
      <p:sp>
        <p:nvSpPr>
          <p:cNvPr id="10" name="Text 2"/>
          <p:cNvSpPr/>
          <p:nvPr/>
        </p:nvSpPr>
        <p:spPr>
          <a:xfrm>
            <a:off x="2616527" y="10811087"/>
            <a:ext cx="18993107" cy="2089573"/>
          </a:xfrm>
          <a:prstGeom prst="rect">
            <a:avLst/>
          </a:prstGeom>
          <a:noFill/>
          <a:ln/>
        </p:spPr>
        <p:txBody>
          <a:bodyPr wrap="square" lIns="0" tIns="0" rIns="0" bIns="0" rtlCol="0" anchor="t"/>
          <a:lstStyle/>
          <a:p>
            <a:pPr algn="l"/>
            <a:r>
              <a:rPr lang="en-US" sz="4400" kern="0" spc="256" dirty="0">
                <a:solidFill>
                  <a:srgbClr val="DAE57F">
                    <a:alpha val="100000"/>
                  </a:srgbClr>
                </a:solidFill>
                <a:latin typeface="Roboto Mono Medium" pitchFamily="34" charset="0"/>
                <a:ea typeface="Roboto Mono Medium" pitchFamily="34" charset="-122"/>
                <a:cs typeface="Roboto Mono Medium" pitchFamily="34" charset="-120"/>
              </a:rPr>
              <a:t>Hossein Ghaemi</a:t>
            </a:r>
          </a:p>
          <a:p>
            <a:pPr algn="l"/>
            <a:r>
              <a:rPr lang="en-US" sz="4400" kern="0" spc="256" dirty="0">
                <a:solidFill>
                  <a:srgbClr val="DAE57F">
                    <a:alpha val="100000"/>
                  </a:srgbClr>
                </a:solidFill>
                <a:latin typeface="Roboto Mono Medium" pitchFamily="34" charset="0"/>
                <a:ea typeface="Roboto Mono Medium" pitchFamily="34" charset="-122"/>
              </a:rPr>
              <a:t>Armin </a:t>
            </a:r>
            <a:r>
              <a:rPr lang="en-US" sz="4400" kern="0" spc="256" dirty="0" err="1">
                <a:solidFill>
                  <a:srgbClr val="DAE57F">
                    <a:alpha val="100000"/>
                  </a:srgbClr>
                </a:solidFill>
                <a:latin typeface="Roboto Mono Medium" pitchFamily="34" charset="0"/>
                <a:ea typeface="Roboto Mono Medium" pitchFamily="34" charset="-122"/>
              </a:rPr>
              <a:t>Yousefi</a:t>
            </a:r>
            <a:endParaRPr lang="en-US" sz="4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0D1021"/>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787498" y="3657600"/>
            <a:ext cx="13260457" cy="9105900"/>
          </a:xfrm>
          <a:prstGeom prst="rect">
            <a:avLst/>
          </a:prstGeom>
        </p:spPr>
      </p:pic>
      <p:pic>
        <p:nvPicPr>
          <p:cNvPr id="4" name="Image 2" descr="preencoded.png"/>
          <p:cNvPicPr>
            <a:picLocks noChangeAspect="1"/>
          </p:cNvPicPr>
          <p:nvPr/>
        </p:nvPicPr>
        <p:blipFill>
          <a:blip r:embed="rId4"/>
          <a:stretch>
            <a:fillRect/>
          </a:stretch>
        </p:blipFill>
        <p:spPr>
          <a:xfrm>
            <a:off x="1441426" y="4239853"/>
            <a:ext cx="349073" cy="357584"/>
          </a:xfrm>
          <a:prstGeom prst="rect">
            <a:avLst/>
          </a:prstGeom>
        </p:spPr>
      </p:pic>
      <p:pic>
        <p:nvPicPr>
          <p:cNvPr id="5" name="Image 3" descr="preencoded.png"/>
          <p:cNvPicPr>
            <a:picLocks noChangeAspect="1"/>
          </p:cNvPicPr>
          <p:nvPr/>
        </p:nvPicPr>
        <p:blipFill>
          <a:blip r:embed="rId5"/>
          <a:stretch>
            <a:fillRect/>
          </a:stretch>
        </p:blipFill>
        <p:spPr>
          <a:xfrm>
            <a:off x="2024948" y="4239853"/>
            <a:ext cx="349067" cy="357584"/>
          </a:xfrm>
          <a:prstGeom prst="rect">
            <a:avLst/>
          </a:prstGeom>
        </p:spPr>
      </p:pic>
      <p:pic>
        <p:nvPicPr>
          <p:cNvPr id="6" name="Image 4" descr="preencoded.png"/>
          <p:cNvPicPr>
            <a:picLocks noChangeAspect="1"/>
          </p:cNvPicPr>
          <p:nvPr/>
        </p:nvPicPr>
        <p:blipFill>
          <a:blip r:embed="rId6"/>
          <a:stretch>
            <a:fillRect/>
          </a:stretch>
        </p:blipFill>
        <p:spPr>
          <a:xfrm>
            <a:off x="2591369" y="4239853"/>
            <a:ext cx="349070" cy="357584"/>
          </a:xfrm>
          <a:prstGeom prst="rect">
            <a:avLst/>
          </a:prstGeom>
        </p:spPr>
      </p:pic>
      <p:sp>
        <p:nvSpPr>
          <p:cNvPr id="9" name="Text 1"/>
          <p:cNvSpPr/>
          <p:nvPr/>
        </p:nvSpPr>
        <p:spPr>
          <a:xfrm>
            <a:off x="1790499" y="6490758"/>
            <a:ext cx="8840262" cy="3439583"/>
          </a:xfrm>
          <a:prstGeom prst="rect">
            <a:avLst/>
          </a:prstGeom>
          <a:noFill/>
          <a:ln/>
        </p:spPr>
        <p:txBody>
          <a:bodyPr wrap="square" lIns="0" tIns="0" rIns="0" bIns="0" rtlCol="0" anchor="t"/>
          <a:lstStyle/>
          <a:p>
            <a:pPr algn="l">
              <a:spcAft>
                <a:spcPts val="4000"/>
              </a:spcAft>
            </a:pPr>
            <a:r>
              <a:rPr lang="en-US" sz="3200" dirty="0">
                <a:solidFill>
                  <a:srgbClr val="9EA4B3">
                    <a:alpha val="100000"/>
                  </a:srgbClr>
                </a:solidFill>
                <a:latin typeface="Roboto Mono Regular" pitchFamily="34" charset="0"/>
                <a:ea typeface="Roboto Mono Regular" pitchFamily="34" charset="-122"/>
              </a:rPr>
              <a:t>A CAPTCHA test is designed to determine if an online user is really a human and not a bot. CAPTCHA is an acronym that stands for "Completely Automated Public Turing test to tell Computers and </a:t>
            </a:r>
            <a:r>
              <a:rPr lang="en-US" sz="3200">
                <a:solidFill>
                  <a:srgbClr val="9EA4B3">
                    <a:alpha val="100000"/>
                  </a:srgbClr>
                </a:solidFill>
                <a:latin typeface="Roboto Mono Regular" pitchFamily="34" charset="0"/>
                <a:ea typeface="Roboto Mono Regular" pitchFamily="34" charset="-122"/>
              </a:rPr>
              <a:t>Humans Apart”.</a:t>
            </a:r>
            <a:endParaRPr lang="en-US" sz="3200" dirty="0">
              <a:solidFill>
                <a:srgbClr val="9EA4B3">
                  <a:alpha val="100000"/>
                </a:srgbClr>
              </a:solidFill>
              <a:latin typeface="Roboto Mono Regular" pitchFamily="34" charset="0"/>
              <a:ea typeface="Roboto Mono Regular" pitchFamily="34" charset="-122"/>
            </a:endParaRPr>
          </a:p>
        </p:txBody>
      </p:sp>
      <p:sp>
        <p:nvSpPr>
          <p:cNvPr id="10" name="Text 2"/>
          <p:cNvSpPr/>
          <p:nvPr/>
        </p:nvSpPr>
        <p:spPr>
          <a:xfrm>
            <a:off x="5669280" y="787400"/>
            <a:ext cx="17972609" cy="2688167"/>
          </a:xfrm>
          <a:prstGeom prst="rect">
            <a:avLst/>
          </a:prstGeom>
          <a:noFill/>
          <a:ln/>
        </p:spPr>
        <p:txBody>
          <a:bodyPr wrap="square" lIns="0" tIns="0" rIns="0" bIns="0" rtlCol="0" anchor="t"/>
          <a:lstStyle/>
          <a:p>
            <a:pPr algn="ctr"/>
            <a:r>
              <a:rPr lang="en-US" sz="12800" dirty="0">
                <a:solidFill>
                  <a:srgbClr val="66985B">
                    <a:alpha val="100000"/>
                  </a:srgbClr>
                </a:solidFill>
                <a:latin typeface="Roboto Mono Medium" pitchFamily="34" charset="0"/>
                <a:ea typeface="Roboto Mono Medium" pitchFamily="34" charset="-122"/>
              </a:rPr>
              <a:t>What is Captcha?</a:t>
            </a:r>
            <a:endParaRPr lang="en-US" sz="12800" dirty="0"/>
          </a:p>
        </p:txBody>
      </p:sp>
      <p:sp>
        <p:nvSpPr>
          <p:cNvPr id="11" name="Text 1">
            <a:extLst>
              <a:ext uri="{FF2B5EF4-FFF2-40B4-BE49-F238E27FC236}">
                <a16:creationId xmlns:a16="http://schemas.microsoft.com/office/drawing/2014/main" id="{ADCE2D8D-9133-2087-6EEB-710511A58330}"/>
              </a:ext>
            </a:extLst>
          </p:cNvPr>
          <p:cNvSpPr/>
          <p:nvPr/>
        </p:nvSpPr>
        <p:spPr>
          <a:xfrm>
            <a:off x="264049" y="4708526"/>
            <a:ext cx="9205072" cy="1898650"/>
          </a:xfrm>
          <a:prstGeom prst="rect">
            <a:avLst/>
          </a:prstGeom>
          <a:noFill/>
          <a:ln/>
        </p:spPr>
        <p:txBody>
          <a:bodyPr wrap="square" lIns="0" tIns="0" rIns="0" bIns="0" rtlCol="0" anchor="t"/>
          <a:lstStyle/>
          <a:p>
            <a:pPr algn="ctr"/>
            <a:r>
              <a:rPr lang="en-US" sz="9600" dirty="0">
                <a:solidFill>
                  <a:srgbClr val="D5FF9B">
                    <a:alpha val="100000"/>
                  </a:srgbClr>
                </a:solidFill>
                <a:latin typeface="Roboto Mono Medium" pitchFamily="34" charset="0"/>
                <a:ea typeface="Roboto Mono Medium" pitchFamily="34" charset="-122"/>
                <a:cs typeface="Roboto Mono Medium" pitchFamily="34" charset="-120"/>
              </a:rPr>
              <a:t>Definition</a:t>
            </a:r>
            <a:endParaRPr lang="en-US" sz="9600" dirty="0"/>
          </a:p>
        </p:txBody>
      </p:sp>
      <p:pic>
        <p:nvPicPr>
          <p:cNvPr id="7" name="Picture 6">
            <a:extLst>
              <a:ext uri="{FF2B5EF4-FFF2-40B4-BE49-F238E27FC236}">
                <a16:creationId xmlns:a16="http://schemas.microsoft.com/office/drawing/2014/main" id="{A1353073-DA61-960B-FED6-6BE84088AB12}"/>
              </a:ext>
            </a:extLst>
          </p:cNvPr>
          <p:cNvPicPr>
            <a:picLocks noChangeAspect="1"/>
          </p:cNvPicPr>
          <p:nvPr/>
        </p:nvPicPr>
        <p:blipFill>
          <a:blip r:embed="rId7"/>
          <a:stretch>
            <a:fillRect/>
          </a:stretch>
        </p:blipFill>
        <p:spPr>
          <a:xfrm>
            <a:off x="15050956" y="4418645"/>
            <a:ext cx="6210300" cy="5067300"/>
          </a:xfrm>
          <a:prstGeom prst="rect">
            <a:avLst/>
          </a:prstGeom>
          <a:ln>
            <a:noFill/>
          </a:ln>
          <a:effectLst>
            <a:softEdge rad="112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0D1021"/>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4368800" y="723900"/>
            <a:ext cx="18443251" cy="12268200"/>
          </a:xfrm>
          <a:prstGeom prst="rect">
            <a:avLst/>
          </a:prstGeom>
        </p:spPr>
      </p:pic>
      <p:pic>
        <p:nvPicPr>
          <p:cNvPr id="4" name="Image 2" descr="preencoded.png"/>
          <p:cNvPicPr>
            <a:picLocks noChangeAspect="1"/>
          </p:cNvPicPr>
          <p:nvPr/>
        </p:nvPicPr>
        <p:blipFill>
          <a:blip r:embed="rId4"/>
          <a:stretch>
            <a:fillRect/>
          </a:stretch>
        </p:blipFill>
        <p:spPr>
          <a:xfrm>
            <a:off x="4531359" y="774700"/>
            <a:ext cx="18229885" cy="1600200"/>
          </a:xfrm>
          <a:prstGeom prst="rect">
            <a:avLst/>
          </a:prstGeom>
        </p:spPr>
      </p:pic>
      <p:pic>
        <p:nvPicPr>
          <p:cNvPr id="5" name="Image 3" descr="preencoded.png"/>
          <p:cNvPicPr>
            <a:picLocks noChangeAspect="1"/>
          </p:cNvPicPr>
          <p:nvPr/>
        </p:nvPicPr>
        <p:blipFill>
          <a:blip r:embed="rId5"/>
          <a:stretch>
            <a:fillRect/>
          </a:stretch>
        </p:blipFill>
        <p:spPr>
          <a:xfrm>
            <a:off x="21259933" y="1122722"/>
            <a:ext cx="807081" cy="806983"/>
          </a:xfrm>
          <a:prstGeom prst="rect">
            <a:avLst/>
          </a:prstGeom>
        </p:spPr>
      </p:pic>
      <p:pic>
        <p:nvPicPr>
          <p:cNvPr id="6" name="Image 4" descr="preencoded.png"/>
          <p:cNvPicPr>
            <a:picLocks noChangeAspect="1"/>
          </p:cNvPicPr>
          <p:nvPr/>
        </p:nvPicPr>
        <p:blipFill>
          <a:blip r:embed="rId6"/>
          <a:stretch>
            <a:fillRect/>
          </a:stretch>
        </p:blipFill>
        <p:spPr>
          <a:xfrm>
            <a:off x="19912811" y="1122722"/>
            <a:ext cx="807081" cy="806983"/>
          </a:xfrm>
          <a:prstGeom prst="rect">
            <a:avLst/>
          </a:prstGeom>
        </p:spPr>
      </p:pic>
      <p:pic>
        <p:nvPicPr>
          <p:cNvPr id="7" name="Image 5" descr="preencoded.png"/>
          <p:cNvPicPr>
            <a:picLocks noChangeAspect="1"/>
          </p:cNvPicPr>
          <p:nvPr/>
        </p:nvPicPr>
        <p:blipFill>
          <a:blip r:embed="rId7"/>
          <a:stretch>
            <a:fillRect/>
          </a:stretch>
        </p:blipFill>
        <p:spPr>
          <a:xfrm>
            <a:off x="18605550" y="1122722"/>
            <a:ext cx="807081" cy="806983"/>
          </a:xfrm>
          <a:prstGeom prst="rect">
            <a:avLst/>
          </a:prstGeom>
        </p:spPr>
      </p:pic>
      <p:sp>
        <p:nvSpPr>
          <p:cNvPr id="10" name="Text 1"/>
          <p:cNvSpPr/>
          <p:nvPr/>
        </p:nvSpPr>
        <p:spPr>
          <a:xfrm>
            <a:off x="277319" y="3238500"/>
            <a:ext cx="5412282" cy="5723467"/>
          </a:xfrm>
          <a:prstGeom prst="rect">
            <a:avLst/>
          </a:prstGeom>
          <a:noFill/>
          <a:ln/>
        </p:spPr>
        <p:txBody>
          <a:bodyPr wrap="square" lIns="0" tIns="0" rIns="0" bIns="0" rtlCol="0" anchor="t"/>
          <a:lstStyle/>
          <a:p>
            <a:pPr algn="l"/>
            <a:r>
              <a:rPr lang="en-US" sz="7200" dirty="0">
                <a:solidFill>
                  <a:srgbClr val="66985B">
                    <a:alpha val="100000"/>
                  </a:srgbClr>
                </a:solidFill>
                <a:latin typeface="Roboto Mono Medium" pitchFamily="34" charset="0"/>
                <a:ea typeface="Roboto Mono Medium" pitchFamily="34" charset="-122"/>
              </a:rPr>
              <a:t>The CAPTCHA Dataset Used in This Project</a:t>
            </a:r>
          </a:p>
        </p:txBody>
      </p:sp>
      <p:sp>
        <p:nvSpPr>
          <p:cNvPr id="11" name="Text 2"/>
          <p:cNvSpPr/>
          <p:nvPr/>
        </p:nvSpPr>
        <p:spPr>
          <a:xfrm>
            <a:off x="4780800" y="2522515"/>
            <a:ext cx="7673137" cy="6501848"/>
          </a:xfrm>
          <a:prstGeom prst="rect">
            <a:avLst/>
          </a:prstGeom>
          <a:noFill/>
          <a:ln/>
        </p:spPr>
        <p:txBody>
          <a:bodyPr wrap="square" lIns="0" tIns="0" rIns="0" bIns="0" rtlCol="0" anchor="t"/>
          <a:lstStyle/>
          <a:p>
            <a:pPr marL="457200" indent="-457200" algn="l">
              <a:spcAft>
                <a:spcPts val="4000"/>
              </a:spcAft>
              <a:buFont typeface="Arial" panose="020B0604020202020204" pitchFamily="34" charset="0"/>
              <a:buChar char="•"/>
            </a:pPr>
            <a:r>
              <a:rPr lang="en-US" sz="3600" dirty="0">
                <a:solidFill>
                  <a:srgbClr val="0D1021">
                    <a:alpha val="100000"/>
                  </a:srgbClr>
                </a:solidFill>
                <a:latin typeface="Roboto Mono Regular" pitchFamily="34" charset="0"/>
                <a:ea typeface="Roboto Mono Regular" pitchFamily="34" charset="-122"/>
              </a:rPr>
              <a:t>The CAPTCHAs used in this project are not standard or clean CAPTCHAs.</a:t>
            </a:r>
          </a:p>
          <a:p>
            <a:pPr marL="457200" indent="-457200" algn="l">
              <a:spcAft>
                <a:spcPts val="4000"/>
              </a:spcAft>
              <a:buFont typeface="Arial" panose="020B0604020202020204" pitchFamily="34" charset="0"/>
              <a:buChar char="•"/>
            </a:pPr>
            <a:r>
              <a:rPr lang="en-US" sz="3600" dirty="0">
                <a:solidFill>
                  <a:srgbClr val="0D1021">
                    <a:alpha val="100000"/>
                  </a:srgbClr>
                </a:solidFill>
                <a:latin typeface="Roboto Mono Regular" pitchFamily="34" charset="0"/>
                <a:ea typeface="Roboto Mono Regular" pitchFamily="34" charset="-122"/>
              </a:rPr>
              <a:t>They contain heavy noise, distortions, overlapping characters, and various artifacts.</a:t>
            </a:r>
          </a:p>
          <a:p>
            <a:pPr marL="457200" indent="-457200">
              <a:spcAft>
                <a:spcPts val="4000"/>
              </a:spcAft>
              <a:buFont typeface="Arial" panose="020B0604020202020204" pitchFamily="34" charset="0"/>
              <a:buChar char="•"/>
            </a:pPr>
            <a:r>
              <a:rPr lang="en-US" sz="3600" dirty="0">
                <a:solidFill>
                  <a:srgbClr val="0D1021">
                    <a:alpha val="100000"/>
                  </a:srgbClr>
                </a:solidFill>
                <a:latin typeface="Roboto Mono Regular" pitchFamily="34" charset="0"/>
                <a:ea typeface="Roboto Mono Regular" pitchFamily="34" charset="-122"/>
              </a:rPr>
              <a:t>These challenges make recognition significantly harder and require a robust CNN-based model.</a:t>
            </a:r>
          </a:p>
          <a:p>
            <a:pPr marL="457200" indent="-457200" algn="l">
              <a:spcAft>
                <a:spcPts val="4000"/>
              </a:spcAft>
              <a:buFont typeface="Arial" panose="020B0604020202020204" pitchFamily="34" charset="0"/>
              <a:buChar char="•"/>
            </a:pPr>
            <a:endParaRPr lang="fa-IR" sz="3600" dirty="0"/>
          </a:p>
        </p:txBody>
      </p:sp>
      <p:sp>
        <p:nvSpPr>
          <p:cNvPr id="12" name="Text 3"/>
          <p:cNvSpPr/>
          <p:nvPr/>
        </p:nvSpPr>
        <p:spPr>
          <a:xfrm>
            <a:off x="12486170" y="3884590"/>
            <a:ext cx="10488439" cy="7941649"/>
          </a:xfrm>
          <a:prstGeom prst="rect">
            <a:avLst/>
          </a:prstGeom>
          <a:noFill/>
          <a:ln/>
        </p:spPr>
        <p:txBody>
          <a:bodyPr wrap="square" lIns="0" tIns="0" rIns="0" bIns="0" rtlCol="0" anchor="t"/>
          <a:lstStyle/>
          <a:p>
            <a:pPr marL="457200" indent="-457200" algn="l">
              <a:spcAft>
                <a:spcPts val="4000"/>
              </a:spcAft>
              <a:buFont typeface="Arial" panose="020B0604020202020204" pitchFamily="34" charset="0"/>
              <a:buChar char="•"/>
            </a:pPr>
            <a:r>
              <a:rPr lang="en-US" sz="3000" dirty="0">
                <a:latin typeface="Roboto Mono Regular" panose="020B0604020202020204" charset="0"/>
                <a:ea typeface="Roboto Mono Regular" panose="020B0604020202020204" charset="0"/>
              </a:rPr>
              <a:t>The initial dataset contained only 25 samples, which is far too small for both training and testing a CNN model. In order to train a reliable model, a much larger dataset was required.</a:t>
            </a:r>
          </a:p>
          <a:p>
            <a:pPr marL="457200" indent="-457200" algn="l">
              <a:spcAft>
                <a:spcPts val="4000"/>
              </a:spcAft>
              <a:buFont typeface="Arial" panose="020B0604020202020204" pitchFamily="34" charset="0"/>
              <a:buChar char="•"/>
            </a:pPr>
            <a:r>
              <a:rPr lang="en-US" sz="3000" dirty="0">
                <a:latin typeface="Roboto Mono Regular" panose="020B0604020202020204" charset="0"/>
                <a:ea typeface="Roboto Mono Regular" panose="020B0604020202020204" charset="0"/>
              </a:rPr>
              <a:t>Since we needed thousands of samples and we are not graphic designers, we attempted to generate additional samples programmatic ally. However, the original CAPTCHA style was difficult to reproduce accurately using code.</a:t>
            </a:r>
          </a:p>
          <a:p>
            <a:pPr marL="457200" indent="-457200" algn="l">
              <a:spcAft>
                <a:spcPts val="4000"/>
              </a:spcAft>
              <a:buFont typeface="Arial" panose="020B0604020202020204" pitchFamily="34" charset="0"/>
              <a:buChar char="•"/>
            </a:pPr>
            <a:r>
              <a:rPr lang="en-US" sz="3000" dirty="0">
                <a:latin typeface="Roboto Mono Regular" panose="020B0604020202020204" charset="0"/>
                <a:ea typeface="Roboto Mono Regular" panose="020B0604020202020204" charset="0"/>
              </a:rPr>
              <a:t>Therefore, we designed and implemented our own CAPTCHA generation code, producing a large number of more complex and more noisy CAPTCHA samples.</a:t>
            </a:r>
          </a:p>
          <a:p>
            <a:pPr marL="457200" indent="-457200" algn="l">
              <a:spcAft>
                <a:spcPts val="4000"/>
              </a:spcAft>
              <a:buFont typeface="Arial" panose="020B0604020202020204" pitchFamily="34" charset="0"/>
              <a:buChar char="•"/>
            </a:pPr>
            <a:endParaRPr lang="en-US" sz="3000" dirty="0">
              <a:latin typeface="Roboto Mono Regular" panose="020B0604020202020204" charset="0"/>
              <a:ea typeface="Roboto Mono Regular" panose="020B0604020202020204" charset="0"/>
            </a:endParaRPr>
          </a:p>
        </p:txBody>
      </p:sp>
      <p:pic>
        <p:nvPicPr>
          <p:cNvPr id="15" name="Picture 14" descr="A close-up of a logo&#10;&#10;AI-generated content may be incorrect.">
            <a:extLst>
              <a:ext uri="{FF2B5EF4-FFF2-40B4-BE49-F238E27FC236}">
                <a16:creationId xmlns:a16="http://schemas.microsoft.com/office/drawing/2014/main" id="{4F64326D-C7D7-3494-D3EF-DE4BFAA21071}"/>
              </a:ext>
            </a:extLst>
          </p:cNvPr>
          <p:cNvPicPr>
            <a:picLocks noChangeAspect="1"/>
          </p:cNvPicPr>
          <p:nvPr/>
        </p:nvPicPr>
        <p:blipFill>
          <a:blip r:embed="rId8"/>
          <a:stretch>
            <a:fillRect/>
          </a:stretch>
        </p:blipFill>
        <p:spPr>
          <a:xfrm>
            <a:off x="5184134" y="10824488"/>
            <a:ext cx="3419952" cy="714475"/>
          </a:xfrm>
          <a:prstGeom prst="rect">
            <a:avLst/>
          </a:prstGeom>
        </p:spPr>
      </p:pic>
      <p:pic>
        <p:nvPicPr>
          <p:cNvPr id="17" name="Picture 16" descr="A blue and black dotted background&#10;&#10;AI-generated content may be incorrect.">
            <a:extLst>
              <a:ext uri="{FF2B5EF4-FFF2-40B4-BE49-F238E27FC236}">
                <a16:creationId xmlns:a16="http://schemas.microsoft.com/office/drawing/2014/main" id="{ADD4C961-C97B-D2AD-7370-DB7F1A1BC268}"/>
              </a:ext>
            </a:extLst>
          </p:cNvPr>
          <p:cNvPicPr>
            <a:picLocks noChangeAspect="1"/>
          </p:cNvPicPr>
          <p:nvPr/>
        </p:nvPicPr>
        <p:blipFill>
          <a:blip r:embed="rId9"/>
          <a:stretch>
            <a:fillRect/>
          </a:stretch>
        </p:blipFill>
        <p:spPr>
          <a:xfrm>
            <a:off x="5140959" y="9815943"/>
            <a:ext cx="3381847" cy="762106"/>
          </a:xfrm>
          <a:prstGeom prst="rect">
            <a:avLst/>
          </a:prstGeom>
        </p:spPr>
      </p:pic>
      <p:sp>
        <p:nvSpPr>
          <p:cNvPr id="18" name="TextBox 17">
            <a:extLst>
              <a:ext uri="{FF2B5EF4-FFF2-40B4-BE49-F238E27FC236}">
                <a16:creationId xmlns:a16="http://schemas.microsoft.com/office/drawing/2014/main" id="{B33108B6-335F-D0D6-37FB-E7B64A56214E}"/>
              </a:ext>
            </a:extLst>
          </p:cNvPr>
          <p:cNvSpPr txBox="1"/>
          <p:nvPr/>
        </p:nvSpPr>
        <p:spPr>
          <a:xfrm>
            <a:off x="12865937" y="2454318"/>
            <a:ext cx="7458874" cy="1600438"/>
          </a:xfrm>
          <a:prstGeom prst="rect">
            <a:avLst/>
          </a:prstGeom>
          <a:noFill/>
        </p:spPr>
        <p:txBody>
          <a:bodyPr wrap="square" rtlCol="0">
            <a:spAutoFit/>
          </a:bodyPr>
          <a:lstStyle/>
          <a:p>
            <a:r>
              <a:rPr lang="en-US" sz="4000" b="1" dirty="0">
                <a:solidFill>
                  <a:schemeClr val="tx1">
                    <a:lumMod val="95000"/>
                    <a:lumOff val="5000"/>
                  </a:schemeClr>
                </a:solidFill>
                <a:ea typeface="Roboto Mono Medium" pitchFamily="34" charset="-122"/>
              </a:rPr>
              <a:t>Limitations of the Initial Dataset &amp; Our Solution</a:t>
            </a:r>
          </a:p>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51A642CC-46D0-6C74-E14E-01AD437A7848}"/>
              </a:ext>
            </a:extLst>
          </p:cNvPr>
          <p:cNvGrpSpPr/>
          <p:nvPr/>
        </p:nvGrpSpPr>
        <p:grpSpPr>
          <a:xfrm>
            <a:off x="10722960" y="2418997"/>
            <a:ext cx="1403022" cy="10081043"/>
            <a:chOff x="11016485" y="2418999"/>
            <a:chExt cx="1403022" cy="10081043"/>
          </a:xfrm>
        </p:grpSpPr>
        <p:sp>
          <p:nvSpPr>
            <p:cNvPr id="2" name="Google Shape;747;p48">
              <a:extLst>
                <a:ext uri="{FF2B5EF4-FFF2-40B4-BE49-F238E27FC236}">
                  <a16:creationId xmlns:a16="http://schemas.microsoft.com/office/drawing/2014/main" id="{597EB33D-A81A-6E08-DE69-9E9504A0E274}"/>
                </a:ext>
              </a:extLst>
            </p:cNvPr>
            <p:cNvSpPr/>
            <p:nvPr/>
          </p:nvSpPr>
          <p:spPr>
            <a:xfrm rot="5400000">
              <a:off x="6677474" y="6758010"/>
              <a:ext cx="10081043" cy="1403022"/>
            </a:xfrm>
            <a:custGeom>
              <a:avLst/>
              <a:gdLst/>
              <a:ahLst/>
              <a:cxnLst/>
              <a:rect l="l" t="t" r="r" b="b"/>
              <a:pathLst>
                <a:path w="285750" h="20980" extrusionOk="0">
                  <a:moveTo>
                    <a:pt x="0" y="1"/>
                  </a:moveTo>
                  <a:lnTo>
                    <a:pt x="0" y="20979"/>
                  </a:lnTo>
                  <a:lnTo>
                    <a:pt x="285750" y="20979"/>
                  </a:lnTo>
                  <a:lnTo>
                    <a:pt x="285750" y="1"/>
                  </a:lnTo>
                  <a:close/>
                </a:path>
              </a:pathLst>
            </a:custGeom>
            <a:solidFill>
              <a:schemeClr val="bg2">
                <a:lumMod val="75000"/>
                <a:alpha val="31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7" name="Google Shape;752;p48">
              <a:extLst>
                <a:ext uri="{FF2B5EF4-FFF2-40B4-BE49-F238E27FC236}">
                  <a16:creationId xmlns:a16="http://schemas.microsoft.com/office/drawing/2014/main" id="{247BC859-E89A-1C24-3F78-35EC93E740EE}"/>
                </a:ext>
              </a:extLst>
            </p:cNvPr>
            <p:cNvSpPr/>
            <p:nvPr/>
          </p:nvSpPr>
          <p:spPr>
            <a:xfrm rot="5400000">
              <a:off x="7412084" y="6919265"/>
              <a:ext cx="8611825" cy="951181"/>
            </a:xfrm>
            <a:custGeom>
              <a:avLst/>
              <a:gdLst/>
              <a:ahLst/>
              <a:cxnLst/>
              <a:rect l="l" t="t" r="r" b="b"/>
              <a:pathLst>
                <a:path w="285750" h="11169" extrusionOk="0">
                  <a:moveTo>
                    <a:pt x="0" y="0"/>
                  </a:moveTo>
                  <a:lnTo>
                    <a:pt x="0" y="11168"/>
                  </a:lnTo>
                  <a:lnTo>
                    <a:pt x="285750" y="11168"/>
                  </a:lnTo>
                  <a:lnTo>
                    <a:pt x="285750" y="0"/>
                  </a:lnTo>
                  <a:close/>
                </a:path>
              </a:pathLst>
            </a:custGeom>
            <a:solidFill>
              <a:schemeClr val="tx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dirty="0"/>
            </a:p>
          </p:txBody>
        </p:sp>
      </p:grpSp>
      <p:sp>
        <p:nvSpPr>
          <p:cNvPr id="34" name="Text 2">
            <a:extLst>
              <a:ext uri="{FF2B5EF4-FFF2-40B4-BE49-F238E27FC236}">
                <a16:creationId xmlns:a16="http://schemas.microsoft.com/office/drawing/2014/main" id="{6D405BE8-4E4F-A6AD-EDC0-FE2527C563A3}"/>
              </a:ext>
            </a:extLst>
          </p:cNvPr>
          <p:cNvSpPr/>
          <p:nvPr/>
        </p:nvSpPr>
        <p:spPr>
          <a:xfrm>
            <a:off x="2796616" y="682866"/>
            <a:ext cx="18793942" cy="1736131"/>
          </a:xfrm>
          <a:prstGeom prst="rect">
            <a:avLst/>
          </a:prstGeom>
          <a:noFill/>
          <a:ln/>
        </p:spPr>
        <p:txBody>
          <a:bodyPr wrap="square" lIns="0" tIns="0" rIns="0" bIns="0" rtlCol="0" anchor="t"/>
          <a:lstStyle/>
          <a:p>
            <a:pPr algn="ctr"/>
            <a:r>
              <a:rPr lang="en-US" sz="8000" dirty="0">
                <a:solidFill>
                  <a:srgbClr val="66985B">
                    <a:alpha val="100000"/>
                  </a:srgbClr>
                </a:solidFill>
                <a:latin typeface="Roboto Mono Medium" pitchFamily="34" charset="0"/>
                <a:ea typeface="Roboto Mono Medium" pitchFamily="34" charset="-122"/>
              </a:rPr>
              <a:t>Comparison of CAPTCHA Types</a:t>
            </a:r>
            <a:endParaRPr lang="en-US" sz="8000" dirty="0"/>
          </a:p>
        </p:txBody>
      </p:sp>
      <p:sp>
        <p:nvSpPr>
          <p:cNvPr id="14" name="TextBox 13">
            <a:extLst>
              <a:ext uri="{FF2B5EF4-FFF2-40B4-BE49-F238E27FC236}">
                <a16:creationId xmlns:a16="http://schemas.microsoft.com/office/drawing/2014/main" id="{5B150D01-2F91-9581-CA2E-5F56A2ECEF21}"/>
              </a:ext>
            </a:extLst>
          </p:cNvPr>
          <p:cNvSpPr txBox="1"/>
          <p:nvPr/>
        </p:nvSpPr>
        <p:spPr>
          <a:xfrm>
            <a:off x="2052320" y="2235200"/>
            <a:ext cx="3964251" cy="1015663"/>
          </a:xfrm>
          <a:prstGeom prst="rect">
            <a:avLst/>
          </a:prstGeom>
          <a:noFill/>
        </p:spPr>
        <p:txBody>
          <a:bodyPr wrap="square" rtlCol="0">
            <a:spAutoFit/>
          </a:bodyPr>
          <a:lstStyle/>
          <a:p>
            <a:pPr algn="ctr"/>
            <a:r>
              <a:rPr lang="en-US" sz="6000" dirty="0">
                <a:solidFill>
                  <a:schemeClr val="bg1"/>
                </a:solidFill>
              </a:rPr>
              <a:t>Original</a:t>
            </a:r>
          </a:p>
        </p:txBody>
      </p:sp>
      <p:sp>
        <p:nvSpPr>
          <p:cNvPr id="15" name="TextBox 14">
            <a:extLst>
              <a:ext uri="{FF2B5EF4-FFF2-40B4-BE49-F238E27FC236}">
                <a16:creationId xmlns:a16="http://schemas.microsoft.com/office/drawing/2014/main" id="{DA51975B-37DE-6697-3BB6-C2E7F71FF68E}"/>
              </a:ext>
            </a:extLst>
          </p:cNvPr>
          <p:cNvSpPr txBox="1"/>
          <p:nvPr/>
        </p:nvSpPr>
        <p:spPr>
          <a:xfrm>
            <a:off x="14955520" y="2214880"/>
            <a:ext cx="5852160" cy="1015663"/>
          </a:xfrm>
          <a:prstGeom prst="rect">
            <a:avLst/>
          </a:prstGeom>
          <a:noFill/>
        </p:spPr>
        <p:txBody>
          <a:bodyPr wrap="square" rtlCol="0">
            <a:spAutoFit/>
          </a:bodyPr>
          <a:lstStyle/>
          <a:p>
            <a:pPr algn="ctr"/>
            <a:r>
              <a:rPr lang="en-US" sz="6000" dirty="0">
                <a:solidFill>
                  <a:schemeClr val="bg1"/>
                </a:solidFill>
              </a:rPr>
              <a:t>Generated</a:t>
            </a:r>
          </a:p>
        </p:txBody>
      </p:sp>
      <p:pic>
        <p:nvPicPr>
          <p:cNvPr id="39" name="Picture 38" descr="A green and black letter h&#10;&#10;AI-generated content may be incorrect.">
            <a:extLst>
              <a:ext uri="{FF2B5EF4-FFF2-40B4-BE49-F238E27FC236}">
                <a16:creationId xmlns:a16="http://schemas.microsoft.com/office/drawing/2014/main" id="{842B9A20-9683-9749-C93F-9935B5843E2A}"/>
              </a:ext>
            </a:extLst>
          </p:cNvPr>
          <p:cNvPicPr>
            <a:picLocks noChangeAspect="1"/>
          </p:cNvPicPr>
          <p:nvPr/>
        </p:nvPicPr>
        <p:blipFill>
          <a:blip r:embed="rId3"/>
          <a:stretch>
            <a:fillRect/>
          </a:stretch>
        </p:blipFill>
        <p:spPr>
          <a:xfrm>
            <a:off x="1184531" y="10092639"/>
            <a:ext cx="6526010" cy="1388161"/>
          </a:xfrm>
          <a:prstGeom prst="rect">
            <a:avLst/>
          </a:prstGeom>
        </p:spPr>
      </p:pic>
      <p:pic>
        <p:nvPicPr>
          <p:cNvPr id="41" name="Picture 40" descr="A close-up of a red and black sign&#10;&#10;AI-generated content may be incorrect.">
            <a:extLst>
              <a:ext uri="{FF2B5EF4-FFF2-40B4-BE49-F238E27FC236}">
                <a16:creationId xmlns:a16="http://schemas.microsoft.com/office/drawing/2014/main" id="{10083CFF-2F04-C531-A7FE-0582BB0AC1F6}"/>
              </a:ext>
            </a:extLst>
          </p:cNvPr>
          <p:cNvPicPr>
            <a:picLocks noChangeAspect="1"/>
          </p:cNvPicPr>
          <p:nvPr/>
        </p:nvPicPr>
        <p:blipFill>
          <a:blip r:embed="rId4"/>
          <a:stretch>
            <a:fillRect/>
          </a:stretch>
        </p:blipFill>
        <p:spPr>
          <a:xfrm>
            <a:off x="1184531" y="7824109"/>
            <a:ext cx="6526010" cy="1401064"/>
          </a:xfrm>
          <a:prstGeom prst="rect">
            <a:avLst/>
          </a:prstGeom>
        </p:spPr>
      </p:pic>
      <p:pic>
        <p:nvPicPr>
          <p:cNvPr id="43" name="Picture 42" descr="A pink and black circle with black dots&#10;&#10;AI-generated content may be incorrect.">
            <a:extLst>
              <a:ext uri="{FF2B5EF4-FFF2-40B4-BE49-F238E27FC236}">
                <a16:creationId xmlns:a16="http://schemas.microsoft.com/office/drawing/2014/main" id="{D6004B09-3805-DF1D-622D-55DE4C6D6593}"/>
              </a:ext>
            </a:extLst>
          </p:cNvPr>
          <p:cNvPicPr>
            <a:picLocks noChangeAspect="1"/>
          </p:cNvPicPr>
          <p:nvPr/>
        </p:nvPicPr>
        <p:blipFill>
          <a:blip r:embed="rId5"/>
          <a:stretch>
            <a:fillRect/>
          </a:stretch>
        </p:blipFill>
        <p:spPr>
          <a:xfrm>
            <a:off x="1224003" y="5756709"/>
            <a:ext cx="6486538" cy="1401064"/>
          </a:xfrm>
          <a:prstGeom prst="rect">
            <a:avLst/>
          </a:prstGeom>
        </p:spPr>
      </p:pic>
      <p:pic>
        <p:nvPicPr>
          <p:cNvPr id="45" name="Picture 44" descr="A pink and black rectangular object with black dots&#10;&#10;AI-generated content may be incorrect.">
            <a:extLst>
              <a:ext uri="{FF2B5EF4-FFF2-40B4-BE49-F238E27FC236}">
                <a16:creationId xmlns:a16="http://schemas.microsoft.com/office/drawing/2014/main" id="{571F0A36-E88E-6102-14B6-185E24EAAB92}"/>
              </a:ext>
            </a:extLst>
          </p:cNvPr>
          <p:cNvPicPr>
            <a:picLocks noChangeAspect="1"/>
          </p:cNvPicPr>
          <p:nvPr/>
        </p:nvPicPr>
        <p:blipFill>
          <a:blip r:embed="rId6"/>
          <a:stretch>
            <a:fillRect/>
          </a:stretch>
        </p:blipFill>
        <p:spPr>
          <a:xfrm>
            <a:off x="1184531" y="3689309"/>
            <a:ext cx="6526010" cy="1401064"/>
          </a:xfrm>
          <a:prstGeom prst="rect">
            <a:avLst/>
          </a:prstGeom>
        </p:spPr>
      </p:pic>
      <p:pic>
        <p:nvPicPr>
          <p:cNvPr id="47" name="Picture 46" descr="A green and black dots&#10;&#10;AI-generated content may be incorrect.">
            <a:extLst>
              <a:ext uri="{FF2B5EF4-FFF2-40B4-BE49-F238E27FC236}">
                <a16:creationId xmlns:a16="http://schemas.microsoft.com/office/drawing/2014/main" id="{15AB5555-B49E-E110-12B9-4734693C241D}"/>
              </a:ext>
            </a:extLst>
          </p:cNvPr>
          <p:cNvPicPr>
            <a:picLocks noChangeAspect="1"/>
          </p:cNvPicPr>
          <p:nvPr/>
        </p:nvPicPr>
        <p:blipFill>
          <a:blip r:embed="rId7"/>
          <a:stretch>
            <a:fillRect/>
          </a:stretch>
        </p:blipFill>
        <p:spPr>
          <a:xfrm>
            <a:off x="14752637" y="9829451"/>
            <a:ext cx="6055043" cy="1730012"/>
          </a:xfrm>
          <a:prstGeom prst="rect">
            <a:avLst/>
          </a:prstGeom>
        </p:spPr>
      </p:pic>
      <p:pic>
        <p:nvPicPr>
          <p:cNvPr id="49" name="Picture 48" descr="A black dots on a white background&#10;&#10;AI-generated content may be incorrect.">
            <a:extLst>
              <a:ext uri="{FF2B5EF4-FFF2-40B4-BE49-F238E27FC236}">
                <a16:creationId xmlns:a16="http://schemas.microsoft.com/office/drawing/2014/main" id="{79AA0EE9-53CA-0387-E0E3-CDA92470CE4E}"/>
              </a:ext>
            </a:extLst>
          </p:cNvPr>
          <p:cNvPicPr>
            <a:picLocks noChangeAspect="1"/>
          </p:cNvPicPr>
          <p:nvPr/>
        </p:nvPicPr>
        <p:blipFill>
          <a:blip r:embed="rId8"/>
          <a:stretch>
            <a:fillRect/>
          </a:stretch>
        </p:blipFill>
        <p:spPr>
          <a:xfrm>
            <a:off x="14752638" y="7730637"/>
            <a:ext cx="6055042" cy="1730012"/>
          </a:xfrm>
          <a:prstGeom prst="rect">
            <a:avLst/>
          </a:prstGeom>
        </p:spPr>
      </p:pic>
      <p:pic>
        <p:nvPicPr>
          <p:cNvPr id="51" name="Picture 50" descr="A black and purple text&#10;&#10;AI-generated content may be incorrect.">
            <a:extLst>
              <a:ext uri="{FF2B5EF4-FFF2-40B4-BE49-F238E27FC236}">
                <a16:creationId xmlns:a16="http://schemas.microsoft.com/office/drawing/2014/main" id="{FFE0649A-1F47-5D9F-23C3-F3227FE3B72F}"/>
              </a:ext>
            </a:extLst>
          </p:cNvPr>
          <p:cNvPicPr>
            <a:picLocks noChangeAspect="1"/>
          </p:cNvPicPr>
          <p:nvPr/>
        </p:nvPicPr>
        <p:blipFill>
          <a:blip r:embed="rId9"/>
          <a:stretch>
            <a:fillRect/>
          </a:stretch>
        </p:blipFill>
        <p:spPr>
          <a:xfrm>
            <a:off x="14752638" y="5614469"/>
            <a:ext cx="6055042" cy="1730012"/>
          </a:xfrm>
          <a:prstGeom prst="rect">
            <a:avLst/>
          </a:prstGeom>
        </p:spPr>
      </p:pic>
      <p:pic>
        <p:nvPicPr>
          <p:cNvPr id="53" name="Picture 52" descr="A black dots on a light blue background&#10;&#10;AI-generated content may be incorrect.">
            <a:extLst>
              <a:ext uri="{FF2B5EF4-FFF2-40B4-BE49-F238E27FC236}">
                <a16:creationId xmlns:a16="http://schemas.microsoft.com/office/drawing/2014/main" id="{1D4049F2-5DCA-847E-4FB8-C1EF6E5E14FC}"/>
              </a:ext>
            </a:extLst>
          </p:cNvPr>
          <p:cNvPicPr>
            <a:picLocks noChangeAspect="1"/>
          </p:cNvPicPr>
          <p:nvPr/>
        </p:nvPicPr>
        <p:blipFill>
          <a:blip r:embed="rId10"/>
          <a:stretch>
            <a:fillRect/>
          </a:stretch>
        </p:blipFill>
        <p:spPr>
          <a:xfrm>
            <a:off x="14752637" y="3437341"/>
            <a:ext cx="6055043" cy="1730012"/>
          </a:xfrm>
          <a:prstGeom prst="rect">
            <a:avLst/>
          </a:prstGeom>
        </p:spPr>
      </p:pic>
    </p:spTree>
    <p:extLst>
      <p:ext uri="{BB962C8B-B14F-4D97-AF65-F5344CB8AC3E}">
        <p14:creationId xmlns:p14="http://schemas.microsoft.com/office/powerpoint/2010/main" val="3277707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0D102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D7C3AAC-FD66-87C6-7A26-CF24593A3C18}"/>
              </a:ext>
            </a:extLst>
          </p:cNvPr>
          <p:cNvGrpSpPr/>
          <p:nvPr/>
        </p:nvGrpSpPr>
        <p:grpSpPr>
          <a:xfrm>
            <a:off x="3496627" y="1698102"/>
            <a:ext cx="17005597" cy="11854160"/>
            <a:chOff x="9186283" y="2705100"/>
            <a:chExt cx="14198615" cy="9622548"/>
          </a:xfrm>
        </p:grpSpPr>
        <p:pic>
          <p:nvPicPr>
            <p:cNvPr id="11" name="Image 1">
              <a:extLst>
                <a:ext uri="{FF2B5EF4-FFF2-40B4-BE49-F238E27FC236}">
                  <a16:creationId xmlns:a16="http://schemas.microsoft.com/office/drawing/2014/main" id="{1A5B8A35-1A5F-F489-A888-63537BED8B1C}"/>
                </a:ext>
              </a:extLst>
            </p:cNvPr>
            <p:cNvPicPr>
              <a:picLocks noChangeAspect="1"/>
            </p:cNvPicPr>
            <p:nvPr/>
          </p:nvPicPr>
          <p:blipFill>
            <a:blip r:embed="rId3"/>
            <a:stretch>
              <a:fillRect/>
            </a:stretch>
          </p:blipFill>
          <p:spPr>
            <a:xfrm>
              <a:off x="9186283" y="2705100"/>
              <a:ext cx="14198615" cy="9622548"/>
            </a:xfrm>
            <a:prstGeom prst="rect">
              <a:avLst/>
            </a:prstGeom>
          </p:spPr>
        </p:pic>
        <p:pic>
          <p:nvPicPr>
            <p:cNvPr id="12" name="Image 2" descr="preencoded.png">
              <a:extLst>
                <a:ext uri="{FF2B5EF4-FFF2-40B4-BE49-F238E27FC236}">
                  <a16:creationId xmlns:a16="http://schemas.microsoft.com/office/drawing/2014/main" id="{77CA1DDF-8135-B833-231F-512F0AA34A9F}"/>
                </a:ext>
              </a:extLst>
            </p:cNvPr>
            <p:cNvPicPr>
              <a:picLocks noChangeAspect="1"/>
            </p:cNvPicPr>
            <p:nvPr/>
          </p:nvPicPr>
          <p:blipFill>
            <a:blip r:embed="rId4"/>
            <a:stretch>
              <a:fillRect/>
            </a:stretch>
          </p:blipFill>
          <p:spPr>
            <a:xfrm>
              <a:off x="9186283" y="2705100"/>
              <a:ext cx="14198615" cy="826679"/>
            </a:xfrm>
            <a:prstGeom prst="rect">
              <a:avLst/>
            </a:prstGeom>
          </p:spPr>
        </p:pic>
        <p:pic>
          <p:nvPicPr>
            <p:cNvPr id="13" name="Image 3" descr="preencoded.png">
              <a:extLst>
                <a:ext uri="{FF2B5EF4-FFF2-40B4-BE49-F238E27FC236}">
                  <a16:creationId xmlns:a16="http://schemas.microsoft.com/office/drawing/2014/main" id="{BE1D0CB8-CAC5-56B7-8A85-E5BD866CBA4F}"/>
                </a:ext>
              </a:extLst>
            </p:cNvPr>
            <p:cNvPicPr>
              <a:picLocks noChangeAspect="1"/>
            </p:cNvPicPr>
            <p:nvPr/>
          </p:nvPicPr>
          <p:blipFill>
            <a:blip r:embed="rId5"/>
            <a:stretch>
              <a:fillRect/>
            </a:stretch>
          </p:blipFill>
          <p:spPr>
            <a:xfrm>
              <a:off x="21253036" y="2918239"/>
              <a:ext cx="409012" cy="408964"/>
            </a:xfrm>
            <a:prstGeom prst="rect">
              <a:avLst/>
            </a:prstGeom>
          </p:spPr>
        </p:pic>
        <p:pic>
          <p:nvPicPr>
            <p:cNvPr id="14" name="Image 4" descr="preencoded.png">
              <a:extLst>
                <a:ext uri="{FF2B5EF4-FFF2-40B4-BE49-F238E27FC236}">
                  <a16:creationId xmlns:a16="http://schemas.microsoft.com/office/drawing/2014/main" id="{00B24800-1D48-0566-84C0-DCCCDD2BC656}"/>
                </a:ext>
              </a:extLst>
            </p:cNvPr>
            <p:cNvPicPr>
              <a:picLocks noChangeAspect="1"/>
            </p:cNvPicPr>
            <p:nvPr/>
          </p:nvPicPr>
          <p:blipFill>
            <a:blip r:embed="rId6"/>
            <a:stretch>
              <a:fillRect/>
            </a:stretch>
          </p:blipFill>
          <p:spPr>
            <a:xfrm>
              <a:off x="21935933" y="2918239"/>
              <a:ext cx="409012" cy="408964"/>
            </a:xfrm>
            <a:prstGeom prst="rect">
              <a:avLst/>
            </a:prstGeom>
          </p:spPr>
        </p:pic>
        <p:pic>
          <p:nvPicPr>
            <p:cNvPr id="15" name="Image 5" descr="preencoded.png">
              <a:extLst>
                <a:ext uri="{FF2B5EF4-FFF2-40B4-BE49-F238E27FC236}">
                  <a16:creationId xmlns:a16="http://schemas.microsoft.com/office/drawing/2014/main" id="{A278479C-02E3-7BBA-B896-69BB4040883A}"/>
                </a:ext>
              </a:extLst>
            </p:cNvPr>
            <p:cNvPicPr>
              <a:picLocks noChangeAspect="1"/>
            </p:cNvPicPr>
            <p:nvPr/>
          </p:nvPicPr>
          <p:blipFill>
            <a:blip r:embed="rId7"/>
            <a:stretch>
              <a:fillRect/>
            </a:stretch>
          </p:blipFill>
          <p:spPr>
            <a:xfrm>
              <a:off x="22599411" y="2918239"/>
              <a:ext cx="408614" cy="408964"/>
            </a:xfrm>
            <a:prstGeom prst="rect">
              <a:avLst/>
            </a:prstGeom>
          </p:spPr>
        </p:pic>
        <p:pic>
          <p:nvPicPr>
            <p:cNvPr id="16" name="Image 6" descr="preencoded.png">
              <a:extLst>
                <a:ext uri="{FF2B5EF4-FFF2-40B4-BE49-F238E27FC236}">
                  <a16:creationId xmlns:a16="http://schemas.microsoft.com/office/drawing/2014/main" id="{AC6A9206-21D4-F1DF-1FEE-B6CDC5F09DC8}"/>
                </a:ext>
              </a:extLst>
            </p:cNvPr>
            <p:cNvPicPr>
              <a:picLocks noChangeAspect="1"/>
            </p:cNvPicPr>
            <p:nvPr/>
          </p:nvPicPr>
          <p:blipFill>
            <a:blip r:embed="rId8"/>
            <a:stretch>
              <a:fillRect/>
            </a:stretch>
          </p:blipFill>
          <p:spPr>
            <a:xfrm>
              <a:off x="9543635" y="2890726"/>
              <a:ext cx="402871" cy="433054"/>
            </a:xfrm>
            <a:prstGeom prst="rect">
              <a:avLst/>
            </a:prstGeom>
          </p:spPr>
        </p:pic>
        <p:pic>
          <p:nvPicPr>
            <p:cNvPr id="17" name="Image 7" descr="preencoded.png">
              <a:extLst>
                <a:ext uri="{FF2B5EF4-FFF2-40B4-BE49-F238E27FC236}">
                  <a16:creationId xmlns:a16="http://schemas.microsoft.com/office/drawing/2014/main" id="{DA604FB8-FC22-3073-0531-EE6E3B23FAB2}"/>
                </a:ext>
              </a:extLst>
            </p:cNvPr>
            <p:cNvPicPr>
              <a:picLocks noChangeAspect="1"/>
            </p:cNvPicPr>
            <p:nvPr/>
          </p:nvPicPr>
          <p:blipFill>
            <a:blip r:embed="rId9"/>
            <a:stretch>
              <a:fillRect/>
            </a:stretch>
          </p:blipFill>
          <p:spPr>
            <a:xfrm>
              <a:off x="10063582" y="2853020"/>
              <a:ext cx="288206" cy="539354"/>
            </a:xfrm>
            <a:prstGeom prst="rect">
              <a:avLst/>
            </a:prstGeom>
          </p:spPr>
        </p:pic>
        <p:pic>
          <p:nvPicPr>
            <p:cNvPr id="18" name="Image 8" descr="preencoded.png">
              <a:extLst>
                <a:ext uri="{FF2B5EF4-FFF2-40B4-BE49-F238E27FC236}">
                  <a16:creationId xmlns:a16="http://schemas.microsoft.com/office/drawing/2014/main" id="{AB68EAA9-0DFC-AE78-54DB-5D46192E7761}"/>
                </a:ext>
              </a:extLst>
            </p:cNvPr>
            <p:cNvPicPr>
              <a:picLocks noChangeAspect="1"/>
            </p:cNvPicPr>
            <p:nvPr/>
          </p:nvPicPr>
          <p:blipFill>
            <a:blip r:embed="rId10"/>
            <a:stretch>
              <a:fillRect/>
            </a:stretch>
          </p:blipFill>
          <p:spPr>
            <a:xfrm>
              <a:off x="10481279" y="2888964"/>
              <a:ext cx="393045" cy="488328"/>
            </a:xfrm>
            <a:prstGeom prst="rect">
              <a:avLst/>
            </a:prstGeom>
          </p:spPr>
        </p:pic>
      </p:grpSp>
      <p:sp>
        <p:nvSpPr>
          <p:cNvPr id="5" name="Shape 1"/>
          <p:cNvSpPr/>
          <p:nvPr/>
        </p:nvSpPr>
        <p:spPr>
          <a:xfrm>
            <a:off x="11215502" y="5308600"/>
            <a:ext cx="11736267" cy="7302500"/>
          </a:xfrm>
          <a:prstGeom prst="rect">
            <a:avLst/>
          </a:prstGeom>
          <a:noFill/>
          <a:ln/>
        </p:spPr>
        <p:txBody>
          <a:bodyPr/>
          <a:lstStyle/>
          <a:p>
            <a:endParaRPr lang="en-US"/>
          </a:p>
        </p:txBody>
      </p:sp>
      <p:sp>
        <p:nvSpPr>
          <p:cNvPr id="6" name="Text 2"/>
          <p:cNvSpPr/>
          <p:nvPr/>
        </p:nvSpPr>
        <p:spPr>
          <a:xfrm>
            <a:off x="3863665" y="2915650"/>
            <a:ext cx="12560891" cy="9906270"/>
          </a:xfrm>
          <a:prstGeom prst="rect">
            <a:avLst/>
          </a:prstGeom>
          <a:noFill/>
          <a:ln/>
        </p:spPr>
        <p:txBody>
          <a:bodyPr wrap="square" lIns="0" tIns="0" rIns="0" bIns="0" rtlCol="0" anchor="t"/>
          <a:lstStyle/>
          <a:p>
            <a:pPr algn="l">
              <a:spcAft>
                <a:spcPts val="4000"/>
              </a:spcAft>
            </a:pPr>
            <a:r>
              <a:rPr lang="en-US" sz="3600" dirty="0">
                <a:solidFill>
                  <a:srgbClr val="9EA4B3">
                    <a:alpha val="100000"/>
                  </a:srgbClr>
                </a:solidFill>
                <a:latin typeface="Roboto Mono Regular" panose="020B0604020202020204" charset="0"/>
                <a:ea typeface="Roboto Mono Regular" panose="020B0604020202020204" charset="0"/>
              </a:rPr>
              <a:t>Before feeding images into the CNN model, we apply preprocessing to standardize the input format and improve training quality. </a:t>
            </a:r>
          </a:p>
          <a:p>
            <a:pPr marL="571500" indent="-571500">
              <a:spcAft>
                <a:spcPts val="4000"/>
              </a:spcAft>
              <a:buFont typeface="Arial" panose="020B0604020202020204" pitchFamily="34" charset="0"/>
              <a:buChar char="•"/>
            </a:pPr>
            <a:r>
              <a:rPr lang="en-US" sz="3600" dirty="0">
                <a:solidFill>
                  <a:srgbClr val="9EA4B3">
                    <a:alpha val="100000"/>
                  </a:srgbClr>
                </a:solidFill>
                <a:latin typeface="Roboto Mono Regular" panose="020B0604020202020204" charset="0"/>
                <a:ea typeface="Roboto Mono Regular" panose="020B0604020202020204" charset="0"/>
              </a:rPr>
              <a:t>Images are loaded in grayscale to reduce complexity.</a:t>
            </a:r>
          </a:p>
          <a:p>
            <a:pPr marL="571500" indent="-571500">
              <a:spcAft>
                <a:spcPts val="4000"/>
              </a:spcAft>
              <a:buFont typeface="Arial" panose="020B0604020202020204" pitchFamily="34" charset="0"/>
              <a:buChar char="•"/>
            </a:pPr>
            <a:r>
              <a:rPr lang="en-US" sz="3600" dirty="0">
                <a:solidFill>
                  <a:srgbClr val="9EA4B3">
                    <a:alpha val="100000"/>
                  </a:srgbClr>
                </a:solidFill>
                <a:latin typeface="Roboto Mono Regular" panose="020B0604020202020204" charset="0"/>
                <a:ea typeface="Roboto Mono Regular" panose="020B0604020202020204" charset="0"/>
              </a:rPr>
              <a:t>Each image is resized to 700×200 to match the model input. </a:t>
            </a:r>
          </a:p>
          <a:p>
            <a:pPr marL="571500" indent="-571500">
              <a:spcAft>
                <a:spcPts val="4000"/>
              </a:spcAft>
              <a:buFont typeface="Arial" panose="020B0604020202020204" pitchFamily="34" charset="0"/>
              <a:buChar char="•"/>
            </a:pPr>
            <a:r>
              <a:rPr lang="en-US" sz="3600" dirty="0">
                <a:solidFill>
                  <a:srgbClr val="9EA4B3">
                    <a:alpha val="100000"/>
                  </a:srgbClr>
                </a:solidFill>
                <a:latin typeface="Roboto Mono Regular" panose="020B0604020202020204" charset="0"/>
                <a:ea typeface="Roboto Mono Regular" panose="020B0604020202020204" charset="0"/>
              </a:rPr>
              <a:t>Pixel values are normalized to range[0, 1].</a:t>
            </a:r>
          </a:p>
          <a:p>
            <a:pPr marL="571500" indent="-571500">
              <a:spcAft>
                <a:spcPts val="4000"/>
              </a:spcAft>
              <a:buFont typeface="Arial" panose="020B0604020202020204" pitchFamily="34" charset="0"/>
              <a:buChar char="•"/>
            </a:pPr>
            <a:r>
              <a:rPr lang="en-US" sz="3600" dirty="0">
                <a:solidFill>
                  <a:srgbClr val="9EA4B3">
                    <a:alpha val="100000"/>
                  </a:srgbClr>
                </a:solidFill>
                <a:latin typeface="Roboto Mono Regular" panose="020B0604020202020204" charset="0"/>
                <a:ea typeface="Roboto Mono Regular" panose="020B0604020202020204" charset="0"/>
              </a:rPr>
              <a:t>The image tensor is expanded to (H, W, 1) for CNN compatibility.</a:t>
            </a:r>
          </a:p>
          <a:p>
            <a:pPr marL="571500" indent="-571500">
              <a:spcAft>
                <a:spcPts val="4000"/>
              </a:spcAft>
              <a:buFont typeface="Arial" panose="020B0604020202020204" pitchFamily="34" charset="0"/>
              <a:buChar char="•"/>
            </a:pPr>
            <a:r>
              <a:rPr lang="en-US" sz="3600" dirty="0">
                <a:solidFill>
                  <a:srgbClr val="9EA4B3">
                    <a:alpha val="100000"/>
                  </a:srgbClr>
                </a:solidFill>
                <a:latin typeface="Roboto Mono Regular" panose="020B0604020202020204" charset="0"/>
                <a:ea typeface="Roboto Mono Regular" panose="020B0604020202020204" charset="0"/>
              </a:rPr>
              <a:t>Labels are extracted from filenames and encoded into character indices.</a:t>
            </a:r>
            <a:endParaRPr lang="en-US" sz="3600" dirty="0">
              <a:solidFill>
                <a:schemeClr val="bg1"/>
              </a:solidFill>
              <a:latin typeface="Roboto Mono Regular" panose="020B0604020202020204" charset="0"/>
              <a:ea typeface="Roboto Mono Regular" panose="020B0604020202020204" charset="0"/>
            </a:endParaRPr>
          </a:p>
        </p:txBody>
      </p:sp>
      <p:sp>
        <p:nvSpPr>
          <p:cNvPr id="10" name="Text 2">
            <a:extLst>
              <a:ext uri="{FF2B5EF4-FFF2-40B4-BE49-F238E27FC236}">
                <a16:creationId xmlns:a16="http://schemas.microsoft.com/office/drawing/2014/main" id="{858067F7-5A01-2B79-BCF6-4C5E97F43DF4}"/>
              </a:ext>
            </a:extLst>
          </p:cNvPr>
          <p:cNvSpPr/>
          <p:nvPr/>
        </p:nvSpPr>
        <p:spPr>
          <a:xfrm>
            <a:off x="3632546" y="571869"/>
            <a:ext cx="16280593" cy="1480451"/>
          </a:xfrm>
          <a:prstGeom prst="rect">
            <a:avLst/>
          </a:prstGeom>
          <a:noFill/>
          <a:ln/>
        </p:spPr>
        <p:txBody>
          <a:bodyPr wrap="square" lIns="0" tIns="0" rIns="0" bIns="0" rtlCol="0" anchor="t"/>
          <a:lstStyle/>
          <a:p>
            <a:pPr algn="ctr"/>
            <a:r>
              <a:rPr lang="en-US" sz="7200" dirty="0">
                <a:solidFill>
                  <a:srgbClr val="66985B">
                    <a:alpha val="100000"/>
                  </a:srgbClr>
                </a:solidFill>
                <a:latin typeface="Roboto Mono Medium" pitchFamily="34" charset="0"/>
                <a:ea typeface="Roboto Mono Medium" pitchFamily="34" charset="-122"/>
              </a:rPr>
              <a:t>Image Preprocessing Steps</a:t>
            </a:r>
            <a:endParaRPr lang="en-US" sz="7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D1021"/>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044956" y="889000"/>
            <a:ext cx="20309838" cy="11950700"/>
          </a:xfrm>
          <a:prstGeom prst="rect">
            <a:avLst/>
          </a:prstGeom>
        </p:spPr>
      </p:pic>
      <p:pic>
        <p:nvPicPr>
          <p:cNvPr id="4" name="Image 2" descr="preencoded.png"/>
          <p:cNvPicPr>
            <a:picLocks noChangeAspect="1"/>
          </p:cNvPicPr>
          <p:nvPr/>
        </p:nvPicPr>
        <p:blipFill>
          <a:blip r:embed="rId4"/>
          <a:stretch>
            <a:fillRect/>
          </a:stretch>
        </p:blipFill>
        <p:spPr>
          <a:xfrm>
            <a:off x="5007207" y="1600200"/>
            <a:ext cx="725932" cy="725841"/>
          </a:xfrm>
          <a:prstGeom prst="rect">
            <a:avLst/>
          </a:prstGeom>
        </p:spPr>
      </p:pic>
      <p:pic>
        <p:nvPicPr>
          <p:cNvPr id="5" name="Image 3" descr="preencoded.png"/>
          <p:cNvPicPr>
            <a:picLocks noChangeAspect="1"/>
          </p:cNvPicPr>
          <p:nvPr/>
        </p:nvPicPr>
        <p:blipFill>
          <a:blip r:embed="rId5"/>
          <a:stretch>
            <a:fillRect/>
          </a:stretch>
        </p:blipFill>
        <p:spPr>
          <a:xfrm>
            <a:off x="3793508" y="1600200"/>
            <a:ext cx="725932" cy="725841"/>
          </a:xfrm>
          <a:prstGeom prst="rect">
            <a:avLst/>
          </a:prstGeom>
        </p:spPr>
      </p:pic>
      <p:pic>
        <p:nvPicPr>
          <p:cNvPr id="6" name="Image 4" descr="preencoded.png"/>
          <p:cNvPicPr>
            <a:picLocks noChangeAspect="1"/>
          </p:cNvPicPr>
          <p:nvPr/>
        </p:nvPicPr>
        <p:blipFill>
          <a:blip r:embed="rId6"/>
          <a:stretch>
            <a:fillRect/>
          </a:stretch>
        </p:blipFill>
        <p:spPr>
          <a:xfrm>
            <a:off x="2616527" y="1600200"/>
            <a:ext cx="725935" cy="725841"/>
          </a:xfrm>
          <a:prstGeom prst="rect">
            <a:avLst/>
          </a:prstGeom>
        </p:spPr>
      </p:pic>
      <p:sp>
        <p:nvSpPr>
          <p:cNvPr id="9" name="Shape 1"/>
          <p:cNvSpPr/>
          <p:nvPr/>
        </p:nvSpPr>
        <p:spPr>
          <a:xfrm>
            <a:off x="3340518" y="3822700"/>
            <a:ext cx="8459257" cy="8293100"/>
          </a:xfrm>
          <a:prstGeom prst="rect">
            <a:avLst/>
          </a:prstGeom>
          <a:noFill/>
          <a:ln/>
        </p:spPr>
        <p:txBody>
          <a:bodyPr/>
          <a:lstStyle/>
          <a:p>
            <a:endParaRPr lang="en-US"/>
          </a:p>
        </p:txBody>
      </p:sp>
      <p:sp>
        <p:nvSpPr>
          <p:cNvPr id="11" name="Shape 2"/>
          <p:cNvSpPr/>
          <p:nvPr/>
        </p:nvSpPr>
        <p:spPr>
          <a:xfrm>
            <a:off x="4451906" y="9105900"/>
            <a:ext cx="6236479" cy="800100"/>
          </a:xfrm>
          <a:prstGeom prst="rect">
            <a:avLst/>
          </a:prstGeom>
          <a:noFill/>
          <a:ln/>
        </p:spPr>
        <p:txBody>
          <a:bodyPr/>
          <a:lstStyle/>
          <a:p>
            <a:endParaRPr lang="en-US"/>
          </a:p>
        </p:txBody>
      </p:sp>
      <p:sp>
        <p:nvSpPr>
          <p:cNvPr id="12" name="Text 3"/>
          <p:cNvSpPr/>
          <p:nvPr/>
        </p:nvSpPr>
        <p:spPr>
          <a:xfrm>
            <a:off x="1562422" y="2917861"/>
            <a:ext cx="6439705" cy="1003300"/>
          </a:xfrm>
          <a:prstGeom prst="rect">
            <a:avLst/>
          </a:prstGeom>
          <a:noFill/>
          <a:ln/>
        </p:spPr>
        <p:txBody>
          <a:bodyPr wrap="square" lIns="0" tIns="0" rIns="0" bIns="0" rtlCol="0" anchor="t"/>
          <a:lstStyle/>
          <a:p>
            <a:pPr algn="ctr"/>
            <a:r>
              <a:rPr lang="en-US" sz="4800" dirty="0">
                <a:solidFill>
                  <a:srgbClr val="DAE57F">
                    <a:alpha val="100000"/>
                  </a:srgbClr>
                </a:solidFill>
                <a:latin typeface="Roboto Mono Medium" pitchFamily="34" charset="0"/>
                <a:ea typeface="Roboto Mono Medium" pitchFamily="34" charset="-122"/>
              </a:rPr>
              <a:t>Dataset Split</a:t>
            </a:r>
            <a:endParaRPr lang="en-US" sz="4800" dirty="0"/>
          </a:p>
        </p:txBody>
      </p:sp>
      <p:sp>
        <p:nvSpPr>
          <p:cNvPr id="13" name="Shape 4"/>
          <p:cNvSpPr/>
          <p:nvPr/>
        </p:nvSpPr>
        <p:spPr>
          <a:xfrm>
            <a:off x="3340518" y="10515600"/>
            <a:ext cx="8459257" cy="1600200"/>
          </a:xfrm>
          <a:prstGeom prst="rect">
            <a:avLst/>
          </a:prstGeom>
          <a:noFill/>
          <a:ln/>
        </p:spPr>
        <p:txBody>
          <a:bodyPr/>
          <a:lstStyle/>
          <a:p>
            <a:endParaRPr lang="en-US"/>
          </a:p>
        </p:txBody>
      </p:sp>
      <p:sp>
        <p:nvSpPr>
          <p:cNvPr id="14" name="Text 5"/>
          <p:cNvSpPr/>
          <p:nvPr/>
        </p:nvSpPr>
        <p:spPr>
          <a:xfrm>
            <a:off x="2866452" y="4181810"/>
            <a:ext cx="8594741" cy="2650790"/>
          </a:xfrm>
          <a:prstGeom prst="rect">
            <a:avLst/>
          </a:prstGeom>
          <a:noFill/>
          <a:ln/>
        </p:spPr>
        <p:txBody>
          <a:bodyPr wrap="square" lIns="0" tIns="0" rIns="0" bIns="0" rtlCol="0" anchor="t"/>
          <a:lstStyle/>
          <a:p>
            <a:pPr marL="457200" indent="-457200">
              <a:spcAft>
                <a:spcPts val="4000"/>
              </a:spcAft>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cs typeface="Roboto Mono Regular" pitchFamily="34" charset="-120"/>
              </a:rPr>
              <a:t>Images divided into training and testing sets</a:t>
            </a:r>
          </a:p>
          <a:p>
            <a:pPr marL="457200" indent="-457200">
              <a:spcAft>
                <a:spcPts val="4000"/>
              </a:spcAft>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cs typeface="Roboto Mono Regular" pitchFamily="34" charset="-120"/>
              </a:rPr>
              <a:t>Ensure the model is evaluated on unseen samples </a:t>
            </a:r>
          </a:p>
        </p:txBody>
      </p:sp>
      <p:sp>
        <p:nvSpPr>
          <p:cNvPr id="15" name="Shape 6"/>
          <p:cNvSpPr/>
          <p:nvPr/>
        </p:nvSpPr>
        <p:spPr>
          <a:xfrm>
            <a:off x="12993724" y="3822700"/>
            <a:ext cx="8459257" cy="8293100"/>
          </a:xfrm>
          <a:prstGeom prst="rect">
            <a:avLst/>
          </a:prstGeom>
          <a:noFill/>
          <a:ln/>
        </p:spPr>
        <p:txBody>
          <a:bodyPr/>
          <a:lstStyle/>
          <a:p>
            <a:endParaRPr lang="en-US"/>
          </a:p>
        </p:txBody>
      </p:sp>
      <p:sp>
        <p:nvSpPr>
          <p:cNvPr id="16" name="Shape 7"/>
          <p:cNvSpPr/>
          <p:nvPr/>
        </p:nvSpPr>
        <p:spPr>
          <a:xfrm>
            <a:off x="14841805" y="3822700"/>
            <a:ext cx="4763095" cy="800100"/>
          </a:xfrm>
          <a:prstGeom prst="rect">
            <a:avLst/>
          </a:prstGeom>
          <a:noFill/>
          <a:ln/>
        </p:spPr>
        <p:txBody>
          <a:bodyPr/>
          <a:lstStyle/>
          <a:p>
            <a:endParaRPr lang="en-US"/>
          </a:p>
        </p:txBody>
      </p:sp>
      <p:sp>
        <p:nvSpPr>
          <p:cNvPr id="17" name="Text 8"/>
          <p:cNvSpPr/>
          <p:nvPr/>
        </p:nvSpPr>
        <p:spPr>
          <a:xfrm>
            <a:off x="12627964" y="1174900"/>
            <a:ext cx="5624766" cy="1003300"/>
          </a:xfrm>
          <a:prstGeom prst="rect">
            <a:avLst/>
          </a:prstGeom>
          <a:noFill/>
          <a:ln/>
        </p:spPr>
        <p:txBody>
          <a:bodyPr wrap="square" lIns="0" tIns="0" rIns="0" bIns="0" rtlCol="0" anchor="t"/>
          <a:lstStyle/>
          <a:p>
            <a:pPr algn="l"/>
            <a:r>
              <a:rPr lang="en-US" sz="4800" dirty="0">
                <a:solidFill>
                  <a:srgbClr val="DAE57F">
                    <a:alpha val="100000"/>
                  </a:srgbClr>
                </a:solidFill>
                <a:latin typeface="Roboto Mono Medium" pitchFamily="34" charset="0"/>
                <a:ea typeface="Roboto Mono Medium" pitchFamily="34" charset="-122"/>
              </a:rPr>
              <a:t>Model Selection</a:t>
            </a:r>
            <a:endParaRPr lang="en-US" sz="4800" dirty="0"/>
          </a:p>
        </p:txBody>
      </p:sp>
      <p:sp>
        <p:nvSpPr>
          <p:cNvPr id="18" name="Shape 9"/>
          <p:cNvSpPr/>
          <p:nvPr/>
        </p:nvSpPr>
        <p:spPr>
          <a:xfrm>
            <a:off x="12993724" y="5232400"/>
            <a:ext cx="8459257" cy="1600200"/>
          </a:xfrm>
          <a:prstGeom prst="rect">
            <a:avLst/>
          </a:prstGeom>
          <a:noFill/>
          <a:ln/>
        </p:spPr>
        <p:txBody>
          <a:bodyPr/>
          <a:lstStyle/>
          <a:p>
            <a:endParaRPr lang="en-US"/>
          </a:p>
        </p:txBody>
      </p:sp>
      <p:sp>
        <p:nvSpPr>
          <p:cNvPr id="19" name="Text 10"/>
          <p:cNvSpPr/>
          <p:nvPr/>
        </p:nvSpPr>
        <p:spPr>
          <a:xfrm>
            <a:off x="12911163" y="2265380"/>
            <a:ext cx="9278277" cy="9192560"/>
          </a:xfrm>
          <a:prstGeom prst="rect">
            <a:avLst/>
          </a:prstGeom>
          <a:noFill/>
          <a:ln/>
        </p:spPr>
        <p:txBody>
          <a:bodyPr wrap="square" lIns="0" tIns="0" rIns="0" bIns="0" rtlCol="0" anchor="t"/>
          <a:lstStyle/>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Built a CNN + </a:t>
            </a:r>
            <a:r>
              <a:rPr lang="en-US" sz="3200" dirty="0" err="1">
                <a:solidFill>
                  <a:srgbClr val="9EA4B3">
                    <a:alpha val="100000"/>
                  </a:srgbClr>
                </a:solidFill>
                <a:latin typeface="Roboto Mono Regular" pitchFamily="34" charset="0"/>
                <a:ea typeface="Roboto Mono Regular" pitchFamily="34" charset="-122"/>
              </a:rPr>
              <a:t>BiLSTM</a:t>
            </a:r>
            <a:r>
              <a:rPr lang="en-US" sz="3200" dirty="0">
                <a:solidFill>
                  <a:srgbClr val="9EA4B3">
                    <a:alpha val="100000"/>
                  </a:srgbClr>
                </a:solidFill>
                <a:latin typeface="Roboto Mono Regular" pitchFamily="34" charset="0"/>
                <a:ea typeface="Roboto Mono Regular" pitchFamily="34" charset="-122"/>
              </a:rPr>
              <a:t> model for sequence recognition.</a:t>
            </a:r>
          </a:p>
          <a:p>
            <a:pPr marL="457200" indent="-457200">
              <a:buFont typeface="Arial" panose="020B0604020202020204" pitchFamily="34" charset="0"/>
              <a:buChar char="•"/>
            </a:pPr>
            <a:endParaRPr lang="en-US" sz="3200" dirty="0">
              <a:solidFill>
                <a:srgbClr val="9EA4B3">
                  <a:alpha val="100000"/>
                </a:srgbClr>
              </a:solidFill>
              <a:latin typeface="Roboto Mono Regular" pitchFamily="34" charset="0"/>
              <a:ea typeface="Roboto Mono Regular" pitchFamily="34" charset="-122"/>
            </a:endParaRP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Multiple convolution layers for feature extraction.</a:t>
            </a:r>
          </a:p>
          <a:p>
            <a:endParaRPr lang="en-US" sz="3200" dirty="0">
              <a:solidFill>
                <a:srgbClr val="9EA4B3">
                  <a:alpha val="100000"/>
                </a:srgbClr>
              </a:solidFill>
              <a:latin typeface="Roboto Mono Regular" pitchFamily="34" charset="0"/>
              <a:ea typeface="Roboto Mono Regular" pitchFamily="34" charset="-122"/>
            </a:endParaRPr>
          </a:p>
          <a:p>
            <a:pPr marL="457200" indent="-457200">
              <a:buFont typeface="Arial" panose="020B0604020202020204" pitchFamily="34" charset="0"/>
              <a:buChar char="•"/>
            </a:pPr>
            <a:r>
              <a:rPr lang="en-US" sz="3200" dirty="0" err="1">
                <a:solidFill>
                  <a:srgbClr val="9EA4B3">
                    <a:alpha val="100000"/>
                  </a:srgbClr>
                </a:solidFill>
                <a:latin typeface="Roboto Mono Regular" pitchFamily="34" charset="0"/>
                <a:ea typeface="Roboto Mono Regular" pitchFamily="34" charset="-122"/>
              </a:rPr>
              <a:t>BiLSTM</a:t>
            </a:r>
            <a:r>
              <a:rPr lang="en-US" sz="3200" dirty="0">
                <a:solidFill>
                  <a:srgbClr val="9EA4B3">
                    <a:alpha val="100000"/>
                  </a:srgbClr>
                </a:solidFill>
                <a:latin typeface="Roboto Mono Regular" pitchFamily="34" charset="0"/>
                <a:ea typeface="Roboto Mono Regular" pitchFamily="34" charset="-122"/>
              </a:rPr>
              <a:t> layers: capture sequence dependencies between characters.</a:t>
            </a:r>
          </a:p>
          <a:p>
            <a:pPr marL="457200" indent="-457200">
              <a:buFont typeface="Arial" panose="020B0604020202020204" pitchFamily="34" charset="0"/>
              <a:buChar char="•"/>
            </a:pPr>
            <a:endParaRPr lang="en-US" sz="3200" dirty="0">
              <a:solidFill>
                <a:srgbClr val="9EA4B3">
                  <a:alpha val="100000"/>
                </a:srgbClr>
              </a:solidFill>
              <a:latin typeface="Roboto Mono Regular" pitchFamily="34" charset="0"/>
              <a:ea typeface="Roboto Mono Regular" pitchFamily="34" charset="-122"/>
            </a:endParaRP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Multi-output Dense layers: predict each character separately(5 </a:t>
            </a:r>
            <a:r>
              <a:rPr lang="en-US" sz="3200" dirty="0" err="1">
                <a:solidFill>
                  <a:srgbClr val="9EA4B3">
                    <a:alpha val="100000"/>
                  </a:srgbClr>
                </a:solidFill>
                <a:latin typeface="Roboto Mono Regular" pitchFamily="34" charset="0"/>
                <a:ea typeface="Roboto Mono Regular" pitchFamily="34" charset="-122"/>
              </a:rPr>
              <a:t>softmax</a:t>
            </a:r>
            <a:r>
              <a:rPr lang="en-US" sz="3200" dirty="0">
                <a:solidFill>
                  <a:srgbClr val="9EA4B3">
                    <a:alpha val="100000"/>
                  </a:srgbClr>
                </a:solidFill>
                <a:latin typeface="Roboto Mono Regular" pitchFamily="34" charset="0"/>
                <a:ea typeface="Roboto Mono Regular" pitchFamily="34" charset="-122"/>
              </a:rPr>
              <a:t> outputs for LENGTH=5)</a:t>
            </a:r>
          </a:p>
        </p:txBody>
      </p:sp>
      <p:sp>
        <p:nvSpPr>
          <p:cNvPr id="8" name="Text 3">
            <a:extLst>
              <a:ext uri="{FF2B5EF4-FFF2-40B4-BE49-F238E27FC236}">
                <a16:creationId xmlns:a16="http://schemas.microsoft.com/office/drawing/2014/main" id="{813CBD10-E16D-2F43-6602-5A70EE490348}"/>
              </a:ext>
            </a:extLst>
          </p:cNvPr>
          <p:cNvSpPr/>
          <p:nvPr/>
        </p:nvSpPr>
        <p:spPr>
          <a:xfrm>
            <a:off x="1787354" y="7130079"/>
            <a:ext cx="6439705" cy="1003300"/>
          </a:xfrm>
          <a:prstGeom prst="rect">
            <a:avLst/>
          </a:prstGeom>
          <a:noFill/>
          <a:ln/>
        </p:spPr>
        <p:txBody>
          <a:bodyPr wrap="square" lIns="0" tIns="0" rIns="0" bIns="0" rtlCol="0" anchor="t"/>
          <a:lstStyle/>
          <a:p>
            <a:pPr algn="ctr"/>
            <a:r>
              <a:rPr lang="en-US" sz="4800" dirty="0">
                <a:solidFill>
                  <a:srgbClr val="DAE57F">
                    <a:alpha val="100000"/>
                  </a:srgbClr>
                </a:solidFill>
                <a:latin typeface="Roboto Mono Medium" pitchFamily="34" charset="0"/>
                <a:ea typeface="Roboto Mono Medium" pitchFamily="34" charset="-122"/>
              </a:rPr>
              <a:t>Data Generator</a:t>
            </a:r>
            <a:endParaRPr lang="en-US" sz="4800" dirty="0"/>
          </a:p>
        </p:txBody>
      </p:sp>
      <p:sp>
        <p:nvSpPr>
          <p:cNvPr id="21" name="Text 5">
            <a:extLst>
              <a:ext uri="{FF2B5EF4-FFF2-40B4-BE49-F238E27FC236}">
                <a16:creationId xmlns:a16="http://schemas.microsoft.com/office/drawing/2014/main" id="{BB6A916E-972C-DEE0-253B-116DBAD00067}"/>
              </a:ext>
            </a:extLst>
          </p:cNvPr>
          <p:cNvSpPr/>
          <p:nvPr/>
        </p:nvSpPr>
        <p:spPr>
          <a:xfrm>
            <a:off x="2866451" y="8416289"/>
            <a:ext cx="8594741" cy="2650790"/>
          </a:xfrm>
          <a:prstGeom prst="rect">
            <a:avLst/>
          </a:prstGeom>
          <a:noFill/>
          <a:ln/>
        </p:spPr>
        <p:txBody>
          <a:bodyPr wrap="square" lIns="0" tIns="0" rIns="0" bIns="0" rtlCol="0" anchor="t"/>
          <a:lstStyle/>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Uses </a:t>
            </a:r>
            <a:r>
              <a:rPr lang="en-US" sz="3200" dirty="0" err="1">
                <a:solidFill>
                  <a:srgbClr val="9EA4B3">
                    <a:alpha val="100000"/>
                  </a:srgbClr>
                </a:solidFill>
                <a:latin typeface="Roboto Mono Regular" pitchFamily="34" charset="0"/>
                <a:ea typeface="Roboto Mono Regular" pitchFamily="34" charset="-122"/>
              </a:rPr>
              <a:t>CaptchaDataGenerator</a:t>
            </a:r>
            <a:r>
              <a:rPr lang="en-US" sz="3200" dirty="0">
                <a:solidFill>
                  <a:srgbClr val="9EA4B3">
                    <a:alpha val="100000"/>
                  </a:srgbClr>
                </a:solidFill>
                <a:latin typeface="Roboto Mono Regular" pitchFamily="34" charset="0"/>
                <a:ea typeface="Roboto Mono Regular" pitchFamily="34" charset="-122"/>
              </a:rPr>
              <a:t> to load images in batches.</a:t>
            </a:r>
          </a:p>
          <a:p>
            <a:pPr marL="457200" indent="-457200">
              <a:buFont typeface="Arial" panose="020B0604020202020204" pitchFamily="34" charset="0"/>
              <a:buChar char="•"/>
            </a:pPr>
            <a:endParaRPr lang="en-US" sz="3200" dirty="0">
              <a:solidFill>
                <a:srgbClr val="9EA4B3">
                  <a:alpha val="100000"/>
                </a:srgbClr>
              </a:solidFill>
              <a:latin typeface="Roboto Mono Regular" pitchFamily="34" charset="0"/>
              <a:ea typeface="Roboto Mono Regular" pitchFamily="34" charset="-122"/>
            </a:endParaRP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Encodes labels into character indices for multi-output model.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021"/>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044956" y="889000"/>
            <a:ext cx="20309838" cy="11950700"/>
          </a:xfrm>
          <a:prstGeom prst="rect">
            <a:avLst/>
          </a:prstGeom>
        </p:spPr>
      </p:pic>
      <p:pic>
        <p:nvPicPr>
          <p:cNvPr id="4" name="Image 2" descr="preencoded.png"/>
          <p:cNvPicPr>
            <a:picLocks noChangeAspect="1"/>
          </p:cNvPicPr>
          <p:nvPr/>
        </p:nvPicPr>
        <p:blipFill>
          <a:blip r:embed="rId4"/>
          <a:stretch>
            <a:fillRect/>
          </a:stretch>
        </p:blipFill>
        <p:spPr>
          <a:xfrm>
            <a:off x="5007207" y="1600200"/>
            <a:ext cx="725932" cy="725841"/>
          </a:xfrm>
          <a:prstGeom prst="rect">
            <a:avLst/>
          </a:prstGeom>
        </p:spPr>
      </p:pic>
      <p:pic>
        <p:nvPicPr>
          <p:cNvPr id="5" name="Image 3" descr="preencoded.png"/>
          <p:cNvPicPr>
            <a:picLocks noChangeAspect="1"/>
          </p:cNvPicPr>
          <p:nvPr/>
        </p:nvPicPr>
        <p:blipFill>
          <a:blip r:embed="rId5"/>
          <a:stretch>
            <a:fillRect/>
          </a:stretch>
        </p:blipFill>
        <p:spPr>
          <a:xfrm>
            <a:off x="3793508" y="1600200"/>
            <a:ext cx="725932" cy="725841"/>
          </a:xfrm>
          <a:prstGeom prst="rect">
            <a:avLst/>
          </a:prstGeom>
        </p:spPr>
      </p:pic>
      <p:pic>
        <p:nvPicPr>
          <p:cNvPr id="6" name="Image 4" descr="preencoded.png"/>
          <p:cNvPicPr>
            <a:picLocks noChangeAspect="1"/>
          </p:cNvPicPr>
          <p:nvPr/>
        </p:nvPicPr>
        <p:blipFill>
          <a:blip r:embed="rId6"/>
          <a:stretch>
            <a:fillRect/>
          </a:stretch>
        </p:blipFill>
        <p:spPr>
          <a:xfrm>
            <a:off x="2616527" y="1600200"/>
            <a:ext cx="725935" cy="725841"/>
          </a:xfrm>
          <a:prstGeom prst="rect">
            <a:avLst/>
          </a:prstGeom>
        </p:spPr>
      </p:pic>
      <p:sp>
        <p:nvSpPr>
          <p:cNvPr id="9" name="Shape 1"/>
          <p:cNvSpPr/>
          <p:nvPr/>
        </p:nvSpPr>
        <p:spPr>
          <a:xfrm>
            <a:off x="3340518" y="3822700"/>
            <a:ext cx="8459257" cy="8293100"/>
          </a:xfrm>
          <a:prstGeom prst="rect">
            <a:avLst/>
          </a:prstGeom>
          <a:noFill/>
          <a:ln/>
        </p:spPr>
        <p:txBody>
          <a:bodyPr/>
          <a:lstStyle/>
          <a:p>
            <a:endParaRPr lang="en-US"/>
          </a:p>
        </p:txBody>
      </p:sp>
      <p:sp>
        <p:nvSpPr>
          <p:cNvPr id="11" name="Shape 2"/>
          <p:cNvSpPr/>
          <p:nvPr/>
        </p:nvSpPr>
        <p:spPr>
          <a:xfrm>
            <a:off x="4451906" y="9105900"/>
            <a:ext cx="6236479" cy="800100"/>
          </a:xfrm>
          <a:prstGeom prst="rect">
            <a:avLst/>
          </a:prstGeom>
          <a:noFill/>
          <a:ln/>
        </p:spPr>
        <p:txBody>
          <a:bodyPr/>
          <a:lstStyle/>
          <a:p>
            <a:endParaRPr lang="en-US"/>
          </a:p>
        </p:txBody>
      </p:sp>
      <p:sp>
        <p:nvSpPr>
          <p:cNvPr id="12" name="Text 3"/>
          <p:cNvSpPr/>
          <p:nvPr/>
        </p:nvSpPr>
        <p:spPr>
          <a:xfrm>
            <a:off x="1562422" y="2917861"/>
            <a:ext cx="6439705" cy="1003300"/>
          </a:xfrm>
          <a:prstGeom prst="rect">
            <a:avLst/>
          </a:prstGeom>
          <a:noFill/>
          <a:ln/>
        </p:spPr>
        <p:txBody>
          <a:bodyPr wrap="square" lIns="0" tIns="0" rIns="0" bIns="0" rtlCol="0" anchor="t"/>
          <a:lstStyle/>
          <a:p>
            <a:pPr algn="ctr"/>
            <a:r>
              <a:rPr lang="en-US" sz="4800" dirty="0">
                <a:solidFill>
                  <a:srgbClr val="DAE57F">
                    <a:alpha val="100000"/>
                  </a:srgbClr>
                </a:solidFill>
                <a:latin typeface="Roboto Mono Medium" pitchFamily="34" charset="0"/>
                <a:ea typeface="Roboto Mono Medium" pitchFamily="34" charset="-122"/>
              </a:rPr>
              <a:t>Training</a:t>
            </a:r>
            <a:endParaRPr lang="en-US" sz="4800" dirty="0"/>
          </a:p>
        </p:txBody>
      </p:sp>
      <p:sp>
        <p:nvSpPr>
          <p:cNvPr id="13" name="Shape 4"/>
          <p:cNvSpPr/>
          <p:nvPr/>
        </p:nvSpPr>
        <p:spPr>
          <a:xfrm>
            <a:off x="3340518" y="10515600"/>
            <a:ext cx="8459257" cy="1600200"/>
          </a:xfrm>
          <a:prstGeom prst="rect">
            <a:avLst/>
          </a:prstGeom>
          <a:noFill/>
          <a:ln/>
        </p:spPr>
        <p:txBody>
          <a:bodyPr/>
          <a:lstStyle/>
          <a:p>
            <a:endParaRPr lang="en-US"/>
          </a:p>
        </p:txBody>
      </p:sp>
      <p:sp>
        <p:nvSpPr>
          <p:cNvPr id="14" name="Text 5"/>
          <p:cNvSpPr/>
          <p:nvPr/>
        </p:nvSpPr>
        <p:spPr>
          <a:xfrm>
            <a:off x="2866452" y="4181810"/>
            <a:ext cx="8594741" cy="7583470"/>
          </a:xfrm>
          <a:prstGeom prst="rect">
            <a:avLst/>
          </a:prstGeom>
          <a:noFill/>
          <a:ln/>
        </p:spPr>
        <p:txBody>
          <a:bodyPr wrap="square" lIns="0" tIns="0" rIns="0" bIns="0" rtlCol="0" anchor="t"/>
          <a:lstStyle/>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Optimizer: Adam with learning rate 0.001</a:t>
            </a:r>
            <a:endParaRPr lang="fa-IR" sz="3200" dirty="0">
              <a:solidFill>
                <a:srgbClr val="9EA4B3">
                  <a:alpha val="100000"/>
                </a:srgbClr>
              </a:solidFill>
              <a:latin typeface="Roboto Mono Regular" pitchFamily="34" charset="0"/>
              <a:ea typeface="Roboto Mono Regular" pitchFamily="34" charset="-122"/>
            </a:endParaRPr>
          </a:p>
          <a:p>
            <a:pPr marL="457200" indent="-457200">
              <a:buFont typeface="Arial" panose="020B0604020202020204" pitchFamily="34" charset="0"/>
              <a:buChar char="•"/>
            </a:pPr>
            <a:endParaRPr lang="fa-IR" sz="3200" dirty="0">
              <a:solidFill>
                <a:srgbClr val="9EA4B3">
                  <a:alpha val="100000"/>
                </a:srgbClr>
              </a:solidFill>
              <a:latin typeface="Roboto Mono Regular" pitchFamily="34" charset="0"/>
              <a:ea typeface="Roboto Mono Regular" pitchFamily="34" charset="-122"/>
            </a:endParaRP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Mini-batch Gradient Descent: batch size = 16</a:t>
            </a:r>
            <a:endParaRPr lang="fa-IR" sz="3200" dirty="0">
              <a:solidFill>
                <a:srgbClr val="9EA4B3">
                  <a:alpha val="100000"/>
                </a:srgbClr>
              </a:solidFill>
              <a:latin typeface="Roboto Mono Regular" pitchFamily="34" charset="0"/>
              <a:ea typeface="Roboto Mono Regular" pitchFamily="34" charset="-122"/>
            </a:endParaRPr>
          </a:p>
          <a:p>
            <a:pPr marL="457200" indent="-457200">
              <a:buFont typeface="Arial" panose="020B0604020202020204" pitchFamily="34" charset="0"/>
              <a:buChar char="•"/>
            </a:pPr>
            <a:endParaRPr lang="en-US" sz="3200" dirty="0">
              <a:solidFill>
                <a:srgbClr val="9EA4B3">
                  <a:alpha val="100000"/>
                </a:srgbClr>
              </a:solidFill>
              <a:latin typeface="Roboto Mono Regular" pitchFamily="34" charset="0"/>
              <a:ea typeface="Roboto Mono Regular" pitchFamily="34" charset="-122"/>
            </a:endParaRP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Epochs:50 -&gt; prevents overfitting</a:t>
            </a:r>
          </a:p>
          <a:p>
            <a:endParaRPr lang="en-US" sz="3200" dirty="0">
              <a:solidFill>
                <a:srgbClr val="9EA4B3">
                  <a:alpha val="100000"/>
                </a:srgbClr>
              </a:solidFill>
              <a:latin typeface="Roboto Mono Regular" pitchFamily="34" charset="0"/>
              <a:ea typeface="Roboto Mono Regular" pitchFamily="34" charset="-122"/>
            </a:endParaRP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Loss: sparse categorical cross-entropy for each character</a:t>
            </a:r>
          </a:p>
          <a:p>
            <a:pPr marL="457200" indent="-457200">
              <a:buFont typeface="Arial" panose="020B0604020202020204" pitchFamily="34" charset="0"/>
              <a:buChar char="•"/>
            </a:pPr>
            <a:endParaRPr lang="en-US" sz="3200" dirty="0">
              <a:solidFill>
                <a:srgbClr val="9EA4B3">
                  <a:alpha val="100000"/>
                </a:srgbClr>
              </a:solidFill>
              <a:latin typeface="Roboto Mono Regular" pitchFamily="34" charset="0"/>
              <a:ea typeface="Roboto Mono Regular" pitchFamily="34" charset="-122"/>
            </a:endParaRP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Callbacks: </a:t>
            </a:r>
            <a:r>
              <a:rPr lang="en-US" sz="3200" dirty="0" err="1">
                <a:solidFill>
                  <a:srgbClr val="9EA4B3">
                    <a:alpha val="100000"/>
                  </a:srgbClr>
                </a:solidFill>
                <a:latin typeface="Roboto Mono Regular" pitchFamily="34" charset="0"/>
                <a:ea typeface="Roboto Mono Regular" pitchFamily="34" charset="-122"/>
              </a:rPr>
              <a:t>EarlyStopping</a:t>
            </a:r>
            <a:r>
              <a:rPr lang="en-US" sz="3200" dirty="0">
                <a:solidFill>
                  <a:srgbClr val="9EA4B3">
                    <a:alpha val="100000"/>
                  </a:srgbClr>
                </a:solidFill>
                <a:latin typeface="Roboto Mono Regular" pitchFamily="34" charset="0"/>
                <a:ea typeface="Roboto Mono Regular" pitchFamily="34" charset="-122"/>
              </a:rPr>
              <a:t>, </a:t>
            </a:r>
            <a:r>
              <a:rPr lang="en-US" sz="3200" dirty="0" err="1">
                <a:solidFill>
                  <a:srgbClr val="9EA4B3">
                    <a:alpha val="100000"/>
                  </a:srgbClr>
                </a:solidFill>
                <a:latin typeface="Roboto Mono Regular" pitchFamily="34" charset="0"/>
                <a:ea typeface="Roboto Mono Regular" pitchFamily="34" charset="-122"/>
              </a:rPr>
              <a:t>ReduceLROnPlateau</a:t>
            </a:r>
            <a:r>
              <a:rPr lang="en-US" sz="3200" dirty="0">
                <a:solidFill>
                  <a:srgbClr val="9EA4B3">
                    <a:alpha val="100000"/>
                  </a:srgbClr>
                </a:solidFill>
                <a:latin typeface="Roboto Mono Regular" pitchFamily="34" charset="0"/>
                <a:ea typeface="Roboto Mono Regular" pitchFamily="34" charset="-122"/>
              </a:rPr>
              <a:t>, </a:t>
            </a:r>
            <a:r>
              <a:rPr lang="en-US" sz="3200" dirty="0" err="1">
                <a:solidFill>
                  <a:srgbClr val="9EA4B3">
                    <a:alpha val="100000"/>
                  </a:srgbClr>
                </a:solidFill>
                <a:latin typeface="Roboto Mono Regular" pitchFamily="34" charset="0"/>
                <a:ea typeface="Roboto Mono Regular" pitchFamily="34" charset="-122"/>
              </a:rPr>
              <a:t>ModelCheckpoint</a:t>
            </a:r>
            <a:endParaRPr lang="en-US" sz="3200" dirty="0">
              <a:solidFill>
                <a:srgbClr val="9EA4B3">
                  <a:alpha val="100000"/>
                </a:srgbClr>
              </a:solidFill>
              <a:latin typeface="Roboto Mono Regular" pitchFamily="34" charset="0"/>
              <a:ea typeface="Roboto Mono Regular" pitchFamily="34" charset="-122"/>
            </a:endParaRPr>
          </a:p>
          <a:p>
            <a:pPr marL="457200" indent="-457200" algn="ctr">
              <a:spcAft>
                <a:spcPts val="4000"/>
              </a:spcAft>
              <a:buFont typeface="Arial" panose="020B0604020202020204" pitchFamily="34" charset="0"/>
              <a:buChar char="•"/>
            </a:pPr>
            <a:endParaRPr lang="en-US" sz="3200" dirty="0">
              <a:solidFill>
                <a:srgbClr val="9EA4B3">
                  <a:alpha val="100000"/>
                </a:srgbClr>
              </a:solidFill>
              <a:latin typeface="Roboto Mono Regular" pitchFamily="34" charset="0"/>
              <a:ea typeface="Roboto Mono Regular" pitchFamily="34" charset="-122"/>
              <a:cs typeface="Roboto Mono Regular" pitchFamily="34" charset="-120"/>
            </a:endParaRPr>
          </a:p>
        </p:txBody>
      </p:sp>
      <p:sp>
        <p:nvSpPr>
          <p:cNvPr id="15" name="Shape 6"/>
          <p:cNvSpPr/>
          <p:nvPr/>
        </p:nvSpPr>
        <p:spPr>
          <a:xfrm>
            <a:off x="12993724" y="3822700"/>
            <a:ext cx="8459257" cy="8293100"/>
          </a:xfrm>
          <a:prstGeom prst="rect">
            <a:avLst/>
          </a:prstGeom>
          <a:noFill/>
          <a:ln/>
        </p:spPr>
        <p:txBody>
          <a:bodyPr/>
          <a:lstStyle/>
          <a:p>
            <a:endParaRPr lang="en-US"/>
          </a:p>
        </p:txBody>
      </p:sp>
      <p:sp>
        <p:nvSpPr>
          <p:cNvPr id="16" name="Shape 7"/>
          <p:cNvSpPr/>
          <p:nvPr/>
        </p:nvSpPr>
        <p:spPr>
          <a:xfrm>
            <a:off x="14841805" y="3822700"/>
            <a:ext cx="4763095" cy="800100"/>
          </a:xfrm>
          <a:prstGeom prst="rect">
            <a:avLst/>
          </a:prstGeom>
          <a:noFill/>
          <a:ln/>
        </p:spPr>
        <p:txBody>
          <a:bodyPr/>
          <a:lstStyle/>
          <a:p>
            <a:endParaRPr lang="en-US"/>
          </a:p>
        </p:txBody>
      </p:sp>
      <p:sp>
        <p:nvSpPr>
          <p:cNvPr id="17" name="Text 8"/>
          <p:cNvSpPr/>
          <p:nvPr/>
        </p:nvSpPr>
        <p:spPr>
          <a:xfrm>
            <a:off x="13161900" y="2917861"/>
            <a:ext cx="5624766" cy="1003300"/>
          </a:xfrm>
          <a:prstGeom prst="rect">
            <a:avLst/>
          </a:prstGeom>
          <a:noFill/>
          <a:ln/>
        </p:spPr>
        <p:txBody>
          <a:bodyPr wrap="square" lIns="0" tIns="0" rIns="0" bIns="0" rtlCol="0" anchor="t"/>
          <a:lstStyle/>
          <a:p>
            <a:pPr algn="l"/>
            <a:r>
              <a:rPr lang="en-US" sz="4800" dirty="0">
                <a:solidFill>
                  <a:srgbClr val="DAE57F">
                    <a:alpha val="100000"/>
                  </a:srgbClr>
                </a:solidFill>
                <a:latin typeface="Roboto Mono Medium" pitchFamily="34" charset="0"/>
                <a:ea typeface="Roboto Mono Medium" pitchFamily="34" charset="-122"/>
              </a:rPr>
              <a:t>Evaluation</a:t>
            </a:r>
            <a:endParaRPr lang="en-US" sz="4800" dirty="0"/>
          </a:p>
        </p:txBody>
      </p:sp>
      <p:sp>
        <p:nvSpPr>
          <p:cNvPr id="18" name="Shape 9"/>
          <p:cNvSpPr/>
          <p:nvPr/>
        </p:nvSpPr>
        <p:spPr>
          <a:xfrm>
            <a:off x="12993724" y="5232400"/>
            <a:ext cx="8459257" cy="1600200"/>
          </a:xfrm>
          <a:prstGeom prst="rect">
            <a:avLst/>
          </a:prstGeom>
          <a:noFill/>
          <a:ln/>
        </p:spPr>
        <p:txBody>
          <a:bodyPr/>
          <a:lstStyle/>
          <a:p>
            <a:endParaRPr lang="en-US"/>
          </a:p>
        </p:txBody>
      </p:sp>
      <p:sp>
        <p:nvSpPr>
          <p:cNvPr id="19" name="Text 10"/>
          <p:cNvSpPr/>
          <p:nvPr/>
        </p:nvSpPr>
        <p:spPr>
          <a:xfrm>
            <a:off x="13483229" y="4178000"/>
            <a:ext cx="8594741" cy="6896400"/>
          </a:xfrm>
          <a:prstGeom prst="rect">
            <a:avLst/>
          </a:prstGeom>
          <a:noFill/>
          <a:ln/>
        </p:spPr>
        <p:txBody>
          <a:bodyPr wrap="square" lIns="0" tIns="0" rIns="0" bIns="0" rtlCol="0" anchor="t"/>
          <a:lstStyle/>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Full CAPTCHA accuracy &amp; per-character accuracy measured.</a:t>
            </a:r>
          </a:p>
          <a:p>
            <a:pPr marL="457200" indent="-457200">
              <a:buFont typeface="Arial" panose="020B0604020202020204" pitchFamily="34" charset="0"/>
              <a:buChar char="•"/>
            </a:pPr>
            <a:endParaRPr lang="en-US" sz="3200" dirty="0">
              <a:solidFill>
                <a:srgbClr val="9EA4B3">
                  <a:alpha val="100000"/>
                </a:srgbClr>
              </a:solidFill>
              <a:latin typeface="Roboto Mono Regular" pitchFamily="34" charset="0"/>
              <a:ea typeface="Roboto Mono Regular" pitchFamily="34" charset="-122"/>
            </a:endParaRP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Visualize predictions on test samples for qualitative analysis.</a:t>
            </a:r>
          </a:p>
          <a:p>
            <a:pPr marL="457200" indent="-457200">
              <a:spcAft>
                <a:spcPts val="4000"/>
              </a:spcAft>
              <a:buFont typeface="Arial" panose="020B0604020202020204" pitchFamily="34" charset="0"/>
              <a:buChar char="•"/>
            </a:pPr>
            <a:endParaRPr lang="en-US" sz="3200" dirty="0">
              <a:solidFill>
                <a:srgbClr val="9EA4B3">
                  <a:alpha val="100000"/>
                </a:srgbClr>
              </a:solidFill>
              <a:latin typeface="Roboto Mono Regular" pitchFamily="34" charset="0"/>
              <a:ea typeface="Roboto Mono Regular" pitchFamily="34" charset="-122"/>
            </a:endParaRPr>
          </a:p>
          <a:p>
            <a:pPr marL="457200" indent="-457200" algn="ctr">
              <a:spcAft>
                <a:spcPts val="4000"/>
              </a:spcAft>
              <a:buFont typeface="Arial" panose="020B0604020202020204" pitchFamily="34" charset="0"/>
              <a:buChar char="•"/>
            </a:pPr>
            <a:endParaRPr lang="en-US" sz="3200" dirty="0">
              <a:solidFill>
                <a:srgbClr val="9EA4B3">
                  <a:alpha val="100000"/>
                </a:srgbClr>
              </a:solidFill>
              <a:latin typeface="Roboto Mono Regular" pitchFamily="34" charset="0"/>
              <a:ea typeface="Roboto Mono Regular" pitchFamily="34" charset="-122"/>
              <a:cs typeface="Roboto Mono Regular" pitchFamily="34" charset="-120"/>
            </a:endParaRPr>
          </a:p>
        </p:txBody>
      </p:sp>
    </p:spTree>
    <p:extLst>
      <p:ext uri="{BB962C8B-B14F-4D97-AF65-F5344CB8AC3E}">
        <p14:creationId xmlns:p14="http://schemas.microsoft.com/office/powerpoint/2010/main" val="2814013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D102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24387048" cy="13716000"/>
          </a:xfrm>
          <a:prstGeom prst="rect">
            <a:avLst/>
          </a:prstGeom>
        </p:spPr>
      </p:pic>
      <p:sp>
        <p:nvSpPr>
          <p:cNvPr id="6" name="Shape 1"/>
          <p:cNvSpPr/>
          <p:nvPr/>
        </p:nvSpPr>
        <p:spPr>
          <a:xfrm>
            <a:off x="3314699" y="2489200"/>
            <a:ext cx="7062497" cy="4457700"/>
          </a:xfrm>
          <a:prstGeom prst="rect">
            <a:avLst/>
          </a:prstGeom>
          <a:noFill/>
          <a:ln/>
        </p:spPr>
        <p:txBody>
          <a:bodyPr/>
          <a:lstStyle/>
          <a:p>
            <a:endParaRPr lang="en-US"/>
          </a:p>
        </p:txBody>
      </p:sp>
      <p:sp>
        <p:nvSpPr>
          <p:cNvPr id="8" name="Shape 2"/>
          <p:cNvSpPr/>
          <p:nvPr/>
        </p:nvSpPr>
        <p:spPr>
          <a:xfrm>
            <a:off x="3314699" y="3810000"/>
            <a:ext cx="7062497" cy="3136900"/>
          </a:xfrm>
          <a:prstGeom prst="rect">
            <a:avLst/>
          </a:prstGeom>
          <a:noFill/>
          <a:ln/>
        </p:spPr>
        <p:txBody>
          <a:bodyPr/>
          <a:lstStyle/>
          <a:p>
            <a:endParaRPr lang="en-US"/>
          </a:p>
        </p:txBody>
      </p:sp>
      <p:sp>
        <p:nvSpPr>
          <p:cNvPr id="9" name="Text 3"/>
          <p:cNvSpPr/>
          <p:nvPr/>
        </p:nvSpPr>
        <p:spPr>
          <a:xfrm>
            <a:off x="3335667" y="3810000"/>
            <a:ext cx="7244756" cy="1003300"/>
          </a:xfrm>
          <a:prstGeom prst="rect">
            <a:avLst/>
          </a:prstGeom>
          <a:noFill/>
          <a:ln/>
        </p:spPr>
        <p:txBody>
          <a:bodyPr wrap="square" lIns="0" tIns="0" rIns="0" bIns="0" rtlCol="0" anchor="t"/>
          <a:lstStyle/>
          <a:p>
            <a:pPr algn="l"/>
            <a:r>
              <a:rPr lang="en-US" sz="4800" dirty="0">
                <a:solidFill>
                  <a:srgbClr val="9ABEE0">
                    <a:alpha val="100000"/>
                  </a:srgbClr>
                </a:solidFill>
                <a:latin typeface="Roboto Mono Medium" pitchFamily="34" charset="0"/>
                <a:ea typeface="Roboto Mono Medium" pitchFamily="34" charset="-122"/>
                <a:cs typeface="Roboto Mono Medium" pitchFamily="34" charset="-120"/>
              </a:rPr>
              <a:t>Libraries</a:t>
            </a:r>
          </a:p>
        </p:txBody>
      </p:sp>
      <p:sp>
        <p:nvSpPr>
          <p:cNvPr id="10" name="Text 4"/>
          <p:cNvSpPr/>
          <p:nvPr/>
        </p:nvSpPr>
        <p:spPr>
          <a:xfrm>
            <a:off x="3328677" y="4813300"/>
            <a:ext cx="18007323" cy="3454400"/>
          </a:xfrm>
          <a:prstGeom prst="rect">
            <a:avLst/>
          </a:prstGeom>
          <a:noFill/>
          <a:ln/>
        </p:spPr>
        <p:txBody>
          <a:bodyPr wrap="square" lIns="0" tIns="0" rIns="0" bIns="0" rtlCol="0" anchor="t"/>
          <a:lstStyle/>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Python 3 – main programming language</a:t>
            </a: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TensorFlow &amp; </a:t>
            </a:r>
            <a:r>
              <a:rPr lang="en-US" sz="3200" dirty="0" err="1">
                <a:solidFill>
                  <a:srgbClr val="9EA4B3">
                    <a:alpha val="100000"/>
                  </a:srgbClr>
                </a:solidFill>
                <a:latin typeface="Roboto Mono Regular" pitchFamily="34" charset="0"/>
                <a:ea typeface="Roboto Mono Regular" pitchFamily="34" charset="-122"/>
              </a:rPr>
              <a:t>Keras</a:t>
            </a:r>
            <a:r>
              <a:rPr lang="en-US" sz="3200" dirty="0">
                <a:solidFill>
                  <a:srgbClr val="9EA4B3">
                    <a:alpha val="100000"/>
                  </a:srgbClr>
                </a:solidFill>
                <a:latin typeface="Roboto Mono Regular" pitchFamily="34" charset="0"/>
                <a:ea typeface="Roboto Mono Regular" pitchFamily="34" charset="-122"/>
              </a:rPr>
              <a:t> – model building &amp; training</a:t>
            </a: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OpenCV – image processing</a:t>
            </a: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Pillow (PIL) – image generation &amp; manipulation</a:t>
            </a: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NumPy – numerical operations</a:t>
            </a:r>
          </a:p>
          <a:p>
            <a:pPr marL="457200" indent="-457200">
              <a:buFont typeface="Arial" panose="020B0604020202020204" pitchFamily="34" charset="0"/>
              <a:buChar char="•"/>
            </a:pPr>
            <a:r>
              <a:rPr lang="en-US" sz="3200" dirty="0">
                <a:solidFill>
                  <a:srgbClr val="9EA4B3">
                    <a:alpha val="100000"/>
                  </a:srgbClr>
                </a:solidFill>
                <a:latin typeface="Roboto Mono Regular" pitchFamily="34" charset="0"/>
                <a:ea typeface="Roboto Mono Regular" pitchFamily="34" charset="-122"/>
              </a:rPr>
              <a:t>Matplotlib – visualization</a:t>
            </a:r>
          </a:p>
        </p:txBody>
      </p:sp>
      <p:sp>
        <p:nvSpPr>
          <p:cNvPr id="11" name="Shape 5"/>
          <p:cNvSpPr/>
          <p:nvPr/>
        </p:nvSpPr>
        <p:spPr>
          <a:xfrm>
            <a:off x="3314699" y="7696200"/>
            <a:ext cx="7062497" cy="4457700"/>
          </a:xfrm>
          <a:prstGeom prst="rect">
            <a:avLst/>
          </a:prstGeom>
          <a:noFill/>
          <a:ln/>
        </p:spPr>
        <p:txBody>
          <a:bodyPr/>
          <a:lstStyle/>
          <a:p>
            <a:endParaRPr lang="en-US"/>
          </a:p>
        </p:txBody>
      </p:sp>
      <p:pic>
        <p:nvPicPr>
          <p:cNvPr id="12" name="Image 4" descr="preencoded.png"/>
          <p:cNvPicPr>
            <a:picLocks noChangeAspect="1"/>
          </p:cNvPicPr>
          <p:nvPr/>
        </p:nvPicPr>
        <p:blipFill>
          <a:blip r:embed="rId4"/>
          <a:stretch>
            <a:fillRect/>
          </a:stretch>
        </p:blipFill>
        <p:spPr>
          <a:xfrm>
            <a:off x="3182115" y="1540933"/>
            <a:ext cx="1026255" cy="1016000"/>
          </a:xfrm>
          <a:prstGeom prst="rect">
            <a:avLst/>
          </a:prstGeom>
        </p:spPr>
      </p:pic>
      <p:sp>
        <p:nvSpPr>
          <p:cNvPr id="13" name="Shape 6"/>
          <p:cNvSpPr/>
          <p:nvPr/>
        </p:nvSpPr>
        <p:spPr>
          <a:xfrm>
            <a:off x="3314699" y="9017000"/>
            <a:ext cx="7062497" cy="3136900"/>
          </a:xfrm>
          <a:prstGeom prst="rect">
            <a:avLst/>
          </a:prstGeom>
          <a:noFill/>
          <a:ln/>
        </p:spPr>
        <p:txBody>
          <a:bodyPr/>
          <a:lstStyle/>
          <a:p>
            <a:endParaRPr lang="en-US"/>
          </a:p>
        </p:txBody>
      </p:sp>
      <p:sp>
        <p:nvSpPr>
          <p:cNvPr id="14" name="Text 7"/>
          <p:cNvSpPr/>
          <p:nvPr/>
        </p:nvSpPr>
        <p:spPr>
          <a:xfrm>
            <a:off x="3335667" y="9017000"/>
            <a:ext cx="7244756" cy="1003300"/>
          </a:xfrm>
          <a:prstGeom prst="rect">
            <a:avLst/>
          </a:prstGeom>
          <a:noFill/>
          <a:ln/>
        </p:spPr>
        <p:txBody>
          <a:bodyPr wrap="square" lIns="0" tIns="0" rIns="0" bIns="0" rtlCol="0" anchor="t"/>
          <a:lstStyle/>
          <a:p>
            <a:pPr algn="l"/>
            <a:r>
              <a:rPr lang="en-US" sz="4800" dirty="0">
                <a:solidFill>
                  <a:srgbClr val="D15D34">
                    <a:alpha val="100000"/>
                  </a:srgbClr>
                </a:solidFill>
                <a:latin typeface="Roboto Mono Medium" pitchFamily="34" charset="0"/>
                <a:ea typeface="Roboto Mono Medium" pitchFamily="34" charset="-122"/>
                <a:cs typeface="Roboto Mono Medium" pitchFamily="34" charset="-120"/>
              </a:rPr>
              <a:t>Hardware</a:t>
            </a:r>
          </a:p>
        </p:txBody>
      </p:sp>
      <p:sp>
        <p:nvSpPr>
          <p:cNvPr id="15" name="Text 8"/>
          <p:cNvSpPr/>
          <p:nvPr/>
        </p:nvSpPr>
        <p:spPr>
          <a:xfrm>
            <a:off x="3328677" y="10020300"/>
            <a:ext cx="10363218" cy="2269067"/>
          </a:xfrm>
          <a:prstGeom prst="rect">
            <a:avLst/>
          </a:prstGeom>
          <a:noFill/>
          <a:ln/>
        </p:spPr>
        <p:txBody>
          <a:bodyPr wrap="square" lIns="0" tIns="0" rIns="0" bIns="0" rtlCol="0" anchor="t"/>
          <a:lstStyle/>
          <a:p>
            <a:r>
              <a:rPr lang="en-US" sz="3200" dirty="0">
                <a:solidFill>
                  <a:srgbClr val="9EA4B3">
                    <a:alpha val="100000"/>
                  </a:srgbClr>
                </a:solidFill>
                <a:latin typeface="Roboto Mono Regular" pitchFamily="34" charset="0"/>
                <a:ea typeface="Roboto Mono Regular" pitchFamily="34" charset="-122"/>
              </a:rPr>
              <a:t>Google </a:t>
            </a:r>
            <a:r>
              <a:rPr lang="en-US" sz="3200" dirty="0" err="1">
                <a:solidFill>
                  <a:srgbClr val="9EA4B3">
                    <a:alpha val="100000"/>
                  </a:srgbClr>
                </a:solidFill>
                <a:latin typeface="Roboto Mono Regular" pitchFamily="34" charset="0"/>
                <a:ea typeface="Roboto Mono Regular" pitchFamily="34" charset="-122"/>
              </a:rPr>
              <a:t>Colab</a:t>
            </a:r>
            <a:r>
              <a:rPr lang="en-US" sz="3200" dirty="0">
                <a:solidFill>
                  <a:srgbClr val="9EA4B3">
                    <a:alpha val="100000"/>
                  </a:srgbClr>
                </a:solidFill>
                <a:latin typeface="Roboto Mono Regular" pitchFamily="34" charset="0"/>
                <a:ea typeface="Roboto Mono Regular" pitchFamily="34" charset="-122"/>
              </a:rPr>
              <a:t> – cloud environment</a:t>
            </a:r>
          </a:p>
          <a:p>
            <a:r>
              <a:rPr lang="en-US" sz="3200" dirty="0">
                <a:solidFill>
                  <a:srgbClr val="9EA4B3">
                    <a:alpha val="100000"/>
                  </a:srgbClr>
                </a:solidFill>
                <a:latin typeface="Roboto Mono Regular" pitchFamily="34" charset="0"/>
                <a:ea typeface="Roboto Mono Regular" pitchFamily="34" charset="-122"/>
              </a:rPr>
              <a:t>GPU: NVIDIA Tesla T4 (for faster training)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 Language">
  <a:themeElements>
    <a:clrScheme name="Custom 894">
      <a:dk1>
        <a:sysClr val="windowText" lastClr="000000"/>
      </a:dk1>
      <a:lt1>
        <a:sysClr val="window" lastClr="FFFFFF"/>
      </a:lt1>
      <a:dk2>
        <a:srgbClr val="44546A"/>
      </a:dk2>
      <a:lt2>
        <a:srgbClr val="E7E6E6"/>
      </a:lt2>
      <a:accent1>
        <a:srgbClr val="66985B"/>
      </a:accent1>
      <a:accent2>
        <a:srgbClr val="DAE57F"/>
      </a:accent2>
      <a:accent3>
        <a:srgbClr val="3400FE"/>
      </a:accent3>
      <a:accent4>
        <a:srgbClr val="FFC000"/>
      </a:accent4>
      <a:accent5>
        <a:srgbClr val="FE125B"/>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TotalTime>
  <Words>489</Words>
  <Application>Microsoft Office PowerPoint</Application>
  <PresentationFormat>Custom</PresentationFormat>
  <Paragraphs>70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Roboto Mono Regular</vt:lpstr>
      <vt:lpstr>Roboto Mono Medium</vt:lpstr>
      <vt:lpstr>Arial</vt:lpstr>
      <vt:lpstr>C Language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Language</dc:title>
  <dc:subject/>
  <dc:creator>rashasite.ir</dc:creator>
  <cp:lastModifiedBy>Hossein Ghaemi</cp:lastModifiedBy>
  <cp:revision>55</cp:revision>
  <dcterms:created xsi:type="dcterms:W3CDTF">2023-06-14T04:13:22Z</dcterms:created>
  <dcterms:modified xsi:type="dcterms:W3CDTF">2025-12-07T14:00:51Z</dcterms:modified>
</cp:coreProperties>
</file>